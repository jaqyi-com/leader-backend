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2121d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0"/>
            <a:ext cx="12124944" cy="73152"/>
          </a:xfrm>
          <a:prstGeom prst="rect">
            <a:avLst/>
          </a:prstGeom>
          <a:gradFill>
            <a:gsLst>
              <a:gs pos="0">
                <a:srgbClr val="E23744"/>
              </a:gs>
              <a:gs pos="100000">
                <a:srgbClr val="0a0a0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0" y="457200"/>
            <a:ext cx="2560320" cy="384048"/>
          </a:xfrm>
          <a:prstGeom prst="rect">
            <a:avLst/>
          </a:prstGeom>
          <a:gradFill>
            <a:gsLst>
              <a:gs pos="0">
                <a:srgbClr val="1d1d28"/>
              </a:gs>
              <a:gs pos="100000">
                <a:srgbClr val="16161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0" y="457200"/>
            <a:ext cx="36576" cy="38404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5029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8"/>
                </a:solidFill>
                <a:latin typeface="Calibri"/>
              </a:rPr>
              <a:t>UdbhavX 2.0  ·  IE Cell SAIT  ·  25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0F0F8"/>
                </a:solidFill>
                <a:latin typeface="Calibri"/>
              </a:rPr>
              <a:t>doott.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2D3EE"/>
                </a:solidFill>
                <a:latin typeface="Calibri"/>
              </a:rPr>
              <a:t>Your AI Sales Team.  Always On.  Always Working.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587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A8"/>
                </a:solidFill>
                <a:latin typeface="Calibri"/>
              </a:rPr>
              <a:t>AI-Powered B2B Lead Generation &amp; Sales Automation — built for India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370832"/>
            <a:ext cx="5029200" cy="18288"/>
          </a:xfrm>
          <a:prstGeom prst="rect">
            <a:avLst/>
          </a:prstGeom>
          <a:solidFill>
            <a:srgbClr val="1D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5262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8"/>
                </a:solidFill>
                <a:latin typeface="Calibri"/>
              </a:rPr>
              <a:t>Akshat Verma  ·  Founder &amp; CEO  ·  doott.in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074920"/>
            <a:ext cx="1828800" cy="347472"/>
          </a:xfrm>
          <a:prstGeom prst="rect">
            <a:avLst/>
          </a:prstGeom>
          <a:solidFill>
            <a:srgbClr val="161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5074920"/>
            <a:ext cx="36576" cy="347472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1023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0F8"/>
                </a:solidFill>
                <a:latin typeface="Calibri"/>
              </a:rPr>
              <a:t>🤖 AI-Native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5074920"/>
            <a:ext cx="1828800" cy="347472"/>
          </a:xfrm>
          <a:prstGeom prst="rect">
            <a:avLst/>
          </a:prstGeom>
          <a:solidFill>
            <a:srgbClr val="161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34640" y="5074920"/>
            <a:ext cx="36576" cy="3474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4368" y="51023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0F8"/>
                </a:solidFill>
                <a:latin typeface="Calibri"/>
              </a:rPr>
              <a:t>📊 B2B SaaS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5074920"/>
            <a:ext cx="1828800" cy="347472"/>
          </a:xfrm>
          <a:prstGeom prst="rect">
            <a:avLst/>
          </a:prstGeom>
          <a:solidFill>
            <a:srgbClr val="161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0" y="5074920"/>
            <a:ext cx="36576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6048" y="51023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0F8"/>
                </a:solidFill>
                <a:latin typeface="Calibri"/>
              </a:rPr>
              <a:t>🇮🇳 India-First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41280" y="5303520"/>
            <a:ext cx="91440" cy="9144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607040" y="5303520"/>
            <a:ext cx="91440" cy="91440"/>
          </a:xfrm>
          <a:prstGeom prst="rect">
            <a:avLst/>
          </a:prstGeom>
          <a:solidFill>
            <a:srgbClr val="1D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0" y="5303520"/>
            <a:ext cx="91440" cy="91440"/>
          </a:xfrm>
          <a:prstGeom prst="rect">
            <a:avLst/>
          </a:prstGeom>
          <a:solidFill>
            <a:srgbClr val="1D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38560" y="5303520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41280" y="5669280"/>
            <a:ext cx="91440" cy="91440"/>
          </a:xfrm>
          <a:prstGeom prst="rect">
            <a:avLst/>
          </a:prstGeom>
          <a:solidFill>
            <a:srgbClr val="1D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07040" y="5669280"/>
            <a:ext cx="91440" cy="9144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5669280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338560" y="5669280"/>
            <a:ext cx="91440" cy="91440"/>
          </a:xfrm>
          <a:prstGeom prst="rect">
            <a:avLst/>
          </a:prstGeom>
          <a:solidFill>
            <a:srgbClr val="1D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0" y="6035040"/>
            <a:ext cx="91440" cy="91440"/>
          </a:xfrm>
          <a:prstGeom prst="rect">
            <a:avLst/>
          </a:prstGeom>
          <a:solidFill>
            <a:srgbClr val="1D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07040" y="6035040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72800" y="6035040"/>
            <a:ext cx="91440" cy="9144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38560" y="6035040"/>
            <a:ext cx="91440" cy="91440"/>
          </a:xfrm>
          <a:prstGeom prst="rect">
            <a:avLst/>
          </a:prstGeom>
          <a:solidFill>
            <a:srgbClr val="1D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1111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gradFill>
            <a:gsLst>
              <a:gs pos="0">
                <a:srgbClr val="E23744"/>
              </a:gs>
              <a:gs pos="100000">
                <a:srgbClr val="11111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Calibri"/>
              </a:rPr>
              <a:t>01  /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F0F0F8"/>
                </a:solidFill>
                <a:latin typeface="Calibri"/>
              </a:rPr>
              <a:t>B2B Sales Teams Are Stuck in 2010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A8"/>
                </a:solidFill>
                <a:latin typeface="Calibri"/>
              </a:rPr>
              <a:t>Sales reps spend only 27% of their time actually selling — the rest is manual, repetitive busywork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19072"/>
            <a:ext cx="11274552" cy="868680"/>
          </a:xfrm>
          <a:prstGeom prst="rect">
            <a:avLst/>
          </a:prstGeom>
          <a:gradFill>
            <a:gsLst>
              <a:gs pos="0">
                <a:srgbClr val="111118"/>
              </a:gs>
              <a:gs pos="100000">
                <a:srgbClr val="16161f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19072"/>
            <a:ext cx="54864" cy="86868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647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A8"/>
                </a:solidFill>
                <a:latin typeface="Calibri"/>
              </a:rPr>
              <a:t>ONE-LINE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299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F0F0F8"/>
                </a:solidFill>
                <a:latin typeface="Calibri"/>
              </a:rPr>
              <a:t>"Doott is the AI that finds your customers, writes their emails, and scores every lead — automatically."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3566160" cy="260604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88920"/>
            <a:ext cx="3566160" cy="6400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535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0F0F8"/>
                </a:solidFill>
                <a:latin typeface="Calibri"/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472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0F8"/>
                </a:solidFill>
                <a:latin typeface="Calibri"/>
              </a:rPr>
              <a:t>Finding Companies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3744"/>
                </a:solidFill>
                <a:latin typeface="Calibri"/>
              </a:rPr>
              <a:t>3 hrs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  <a:latin typeface="Calibri"/>
              </a:rPr>
              <a:t>Manually scanning directories,
LinkedIn &amp; Google — every single 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2788920"/>
            <a:ext cx="3566160" cy="260604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8" y="2788920"/>
            <a:ext cx="35661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29535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0F0F8"/>
                </a:solidFill>
                <a:latin typeface="Calibri"/>
              </a:rP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4472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0F8"/>
                </a:solidFill>
                <a:latin typeface="Calibri"/>
              </a:rPr>
              <a:t>Finding Contacts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840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Calibri"/>
              </a:rPr>
              <a:t>2 hrs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389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  <a:latin typeface="Calibri"/>
              </a:rPr>
              <a:t>Hunting for verified decision-maker
emails, phones, LinkedIn profiles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6" y="2788920"/>
            <a:ext cx="3566160" cy="260604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1856" y="2788920"/>
            <a:ext cx="356616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74736" y="29535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0F0F8"/>
                </a:solidFill>
                <a:latin typeface="Calibri"/>
              </a:rPr>
              <a:t>✍️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34472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0F8"/>
                </a:solidFill>
                <a:latin typeface="Calibri"/>
              </a:rPr>
              <a:t>Writing Cold Emails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3840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78BFA"/>
                </a:solidFill>
                <a:latin typeface="Calibri"/>
              </a:rPr>
              <a:t>4 hrs / 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4389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  <a:latin typeface="Calibri"/>
              </a:rPr>
              <a:t>Crafting unique personalized emails
one by one for each prospect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468112"/>
            <a:ext cx="11274552" cy="1417320"/>
          </a:xfrm>
          <a:prstGeom prst="rect">
            <a:avLst/>
          </a:prstGeom>
          <a:gradFill>
            <a:gsLst>
              <a:gs pos="0">
                <a:srgbClr val="111118"/>
              </a:gs>
              <a:gs pos="100000">
                <a:srgbClr val="16161f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632704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Calibri"/>
              </a:rPr>
              <a:t>₹10L / year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126480"/>
            <a:ext cx="25443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8"/>
                </a:solidFill>
                <a:latin typeface="Calibri"/>
              </a:rPr>
              <a:t>Cost of 1 SDR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4438" y="5632704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Calibri"/>
              </a:rPr>
              <a:t>40 leads/wk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4438" y="6126480"/>
            <a:ext cx="25443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8"/>
                </a:solidFill>
                <a:latin typeface="Calibri"/>
              </a:rPr>
              <a:t>SDR Weekly Capacity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5632704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Calibri"/>
              </a:rPr>
              <a:t>27%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3076" y="6126480"/>
            <a:ext cx="25443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8"/>
                </a:solidFill>
                <a:latin typeface="Calibri"/>
              </a:rPr>
              <a:t>Time Actually Selling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1714" y="5632704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Calibri"/>
              </a:rPr>
              <a:t>18 months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1714" y="6126480"/>
            <a:ext cx="25443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8"/>
                </a:solidFill>
                <a:latin typeface="Calibri"/>
              </a:rPr>
              <a:t>Average SDR Tenure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1111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0" y="6702552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8"/>
                </a:solidFill>
                <a:latin typeface="Calibri"/>
              </a:rPr>
              <a:t>doott.in  ·  Akshat Verma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gradFill>
            <a:gsLst>
              <a:gs pos="0">
                <a:srgbClr val="10b981"/>
              </a:gs>
              <a:gs pos="100000">
                <a:srgbClr val="0a0a0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02  /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F0F0F8"/>
                </a:solidFill>
                <a:latin typeface="Calibri"/>
              </a:rPr>
              <a:t>Doott — One Platform. Entire Sales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A8"/>
                </a:solidFill>
                <a:latin typeface="Calibri"/>
              </a:rPr>
              <a:t>6-stage autonomous AI pipeline · 10,000 leads/week · zero manual effort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874519"/>
            <a:ext cx="3657600" cy="1874519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874519"/>
            <a:ext cx="54864" cy="18745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6595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2199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0F8"/>
                </a:solidFill>
                <a:latin typeface="Calibri"/>
              </a:rPr>
              <a:t>🔍  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79191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  <a:latin typeface="Calibri"/>
              </a:rPr>
              <a:t>Finds companies matching
your Ideal Customer Profile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1104" y="1874519"/>
            <a:ext cx="3657600" cy="1874519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1104" y="1874519"/>
            <a:ext cx="54864" cy="1874519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196595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222199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0F8"/>
                </a:solidFill>
                <a:latin typeface="Calibri"/>
              </a:rPr>
              <a:t>📋  ENRICH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2679191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  <a:latin typeface="Calibri"/>
              </a:rPr>
              <a:t>Gets verified emails, phones
&amp; LinkedIn of decision-makers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874519"/>
            <a:ext cx="3657600" cy="1874519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874519"/>
            <a:ext cx="54864" cy="1874519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96595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22199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0F8"/>
                </a:solidFill>
                <a:latin typeface="Calibri"/>
              </a:rPr>
              <a:t>✉️  OUTREACH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679191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  <a:latin typeface="Calibri"/>
              </a:rPr>
              <a:t>AI writes &amp; sends hyper-
personalized cold emails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3977639"/>
            <a:ext cx="3657600" cy="1874519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3977639"/>
            <a:ext cx="54864" cy="1874519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06907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3744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2511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0F8"/>
                </a:solidFill>
                <a:latin typeface="Calibri"/>
              </a:rPr>
              <a:t>📈 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82311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  <a:latin typeface="Calibri"/>
              </a:rPr>
              <a:t>AI scores every lead
0–100 based on ICP fit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61104" y="3977639"/>
            <a:ext cx="3657600" cy="1874519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61104" y="3977639"/>
            <a:ext cx="54864" cy="18745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6" y="406907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6" y="432511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0F8"/>
                </a:solidFill>
                <a:latin typeface="Calibri"/>
              </a:rPr>
              <a:t>📊 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4782311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  <a:latin typeface="Calibri"/>
              </a:rPr>
              <a:t>Live Google Sheets dashboard
with full pipeline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3977639"/>
            <a:ext cx="3657600" cy="1874519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3977639"/>
            <a:ext cx="54864" cy="1874519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406907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8B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32511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0F8"/>
                </a:solidFill>
                <a:latin typeface="Calibri"/>
              </a:rPr>
              <a:t>🤖  CHATBOT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782311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  <a:latin typeface="Calibri"/>
              </a:rPr>
              <a:t>RAG AI chatbot answers
prospect questions 24/7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25786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23744"/>
                </a:solidFill>
                <a:latin typeface="Calibr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39" y="46817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23744"/>
                </a:solidFill>
                <a:latin typeface="Calibri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54696" y="25786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23744"/>
                </a:solidFill>
                <a:latin typeface="Calibri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54696" y="46817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23744"/>
                </a:solidFill>
                <a:latin typeface="Calibr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053328"/>
            <a:ext cx="11274552" cy="594360"/>
          </a:xfrm>
          <a:prstGeom prst="rect">
            <a:avLst/>
          </a:prstGeom>
          <a:gradFill>
            <a:gsLst>
              <a:gs pos="0">
                <a:srgbClr val="111118"/>
              </a:gs>
              <a:gs pos="100000">
                <a:srgbClr val="16161f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6053328"/>
            <a:ext cx="54864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0F8"/>
                </a:solidFill>
                <a:latin typeface="Calibri"/>
              </a:rPr>
              <a:t>Result:  10,000 leads processed per week at the cost of a single SaaS subscription — not ₹10 lakh/year per SDR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1111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0" y="6702552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8"/>
                </a:solidFill>
                <a:latin typeface="Calibri"/>
              </a:rPr>
              <a:t>doott.in  ·  Akshat Verma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gradFill>
            <a:gsLst>
              <a:gs pos="0">
                <a:srgbClr val="22d3ee"/>
              </a:gs>
              <a:gs pos="100000">
                <a:srgbClr val="0a0a0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03  / 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F0F0F8"/>
                </a:solidFill>
                <a:latin typeface="Calibri"/>
              </a:rPr>
              <a:t>A $5.9B Market — 97% Still Untapped in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A8"/>
                </a:solidFill>
                <a:latin typeface="Calibri"/>
              </a:rPr>
              <a:t>22% CAGR · 63 million Indian SMBs · no end-to-end AI solution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3840480" cy="320040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3840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3911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39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0F8"/>
                </a:solidFill>
                <a:latin typeface="Calibri"/>
              </a:rPr>
              <a:t>$5.9 Billion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72967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  <a:latin typeface="Calibri"/>
              </a:rPr>
              <a:t>Global B2B Lead Gen
Market by 2030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874519"/>
            <a:ext cx="3291840" cy="274320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874519"/>
            <a:ext cx="329184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03911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7743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0F8"/>
                </a:solidFill>
                <a:latin typeface="Calibri"/>
              </a:rPr>
              <a:t>$800 Million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172967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  <a:latin typeface="Calibri"/>
              </a:rPr>
              <a:t>India B2B SaaS
Sales Market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874519"/>
            <a:ext cx="2743200" cy="228600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874519"/>
            <a:ext cx="27432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203911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237743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0F8"/>
                </a:solidFill>
                <a:latin typeface="Calibri"/>
              </a:rPr>
              <a:t>$40 Million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3172967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  <a:latin typeface="Calibri"/>
              </a:rPr>
              <a:t>India SMB Segment
Year 1–2 Target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57800"/>
            <a:ext cx="11274552" cy="777240"/>
          </a:xfrm>
          <a:prstGeom prst="rect">
            <a:avLst/>
          </a:prstGeom>
          <a:gradFill>
            <a:gsLst>
              <a:gs pos="0">
                <a:srgbClr val="111118"/>
              </a:gs>
              <a:gs pos="100000">
                <a:srgbClr val="16161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257800"/>
            <a:ext cx="54864" cy="777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218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🇮🇳  India Insight: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5961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0F8"/>
                </a:solidFill>
                <a:latin typeface="Calibri"/>
              </a:rPr>
              <a:t>63 million SMBs in India · Only 3% use ANY sales automation · Zero end-to-end AI platform exists — this is Doott's entire market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144768"/>
            <a:ext cx="11274552" cy="1417320"/>
          </a:xfrm>
          <a:prstGeom prst="rect">
            <a:avLst/>
          </a:prstGeom>
          <a:gradFill>
            <a:gsLst>
              <a:gs pos="0">
                <a:srgbClr val="111118"/>
              </a:gs>
              <a:gs pos="100000">
                <a:srgbClr val="16161f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309360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Calibri"/>
              </a:rPr>
              <a:t>63 Million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803136"/>
            <a:ext cx="25443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8"/>
                </a:solidFill>
                <a:latin typeface="Calibri"/>
              </a:rPr>
              <a:t>SMBs in India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4438" y="6309360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Calibri"/>
              </a:rPr>
              <a:t>22% CAGR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4438" y="6803136"/>
            <a:ext cx="25443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8"/>
                </a:solidFill>
                <a:latin typeface="Calibri"/>
              </a:rPr>
              <a:t>Market Growth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3076" y="6309360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Calibri"/>
              </a:rPr>
              <a:t>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3076" y="6803136"/>
            <a:ext cx="25443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8"/>
                </a:solidFill>
                <a:latin typeface="Calibri"/>
              </a:rPr>
              <a:t>Currently Use Automation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1714" y="6309360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Calibri"/>
              </a:rPr>
              <a:t>ZERO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1714" y="6803136"/>
            <a:ext cx="25443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8"/>
                </a:solidFill>
                <a:latin typeface="Calibri"/>
              </a:rPr>
              <a:t>End-to-End AI for India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1111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0" y="6702552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8"/>
                </a:solidFill>
                <a:latin typeface="Calibri"/>
              </a:rPr>
              <a:t>doott.in  ·  Akshat Verma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gradFill>
            <a:gsLst>
              <a:gs pos="0">
                <a:srgbClr val="10b981"/>
              </a:gs>
              <a:gs pos="100000">
                <a:srgbClr val="a78bfa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04  / 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F0F0F8"/>
                </a:solidFill>
                <a:latin typeface="Calibri"/>
              </a:rPr>
              <a:t>SaaS — High-Margin, Recurring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A8"/>
                </a:solidFill>
                <a:latin typeface="Calibri"/>
              </a:rPr>
              <a:t>Monthly subscriptions · Pay-per-lead credits · Enterprise white-label · API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664208"/>
            <a:ext cx="2788920" cy="416052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" y="1664208"/>
            <a:ext cx="278892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0F8"/>
                </a:solidFill>
                <a:latin typeface="Calibri"/>
              </a:rPr>
              <a:t>₹2,999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7121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8"/>
                </a:solidFill>
                <a:latin typeface="Calibri"/>
              </a:rPr>
              <a:t>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2459736" cy="18288"/>
          </a:xfrm>
          <a:prstGeom prst="rect">
            <a:avLst/>
          </a:prstGeom>
          <a:solidFill>
            <a:srgbClr val="1D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500 leads/month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5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AI email writing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Lead scoring 0–100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006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Sheets dashboard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91256" y="1618488"/>
            <a:ext cx="2880360" cy="4251960"/>
          </a:xfrm>
          <a:prstGeom prst="rect">
            <a:avLst/>
          </a:prstGeom>
          <a:gradFill>
            <a:gsLst>
              <a:gs pos="0">
                <a:srgbClr val="a78bfa"/>
              </a:gs>
              <a:gs pos="100000">
                <a:srgbClr val="1d1d28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36976" y="1664208"/>
            <a:ext cx="2788920" cy="416052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36976" y="1664208"/>
            <a:ext cx="278892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36976" y="1773936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  <a:latin typeface="Calibri"/>
              </a:rPr>
              <a:t>⭐  MOST POPULAR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0756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239572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0F8"/>
                </a:solidFill>
                <a:latin typeface="Calibri"/>
              </a:rPr>
              <a:t>₹7,999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302666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8"/>
                </a:solidFill>
                <a:latin typeface="Calibri"/>
              </a:rPr>
              <a:t>/mo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01568" y="3310128"/>
            <a:ext cx="2459736" cy="18288"/>
          </a:xfrm>
          <a:prstGeom prst="rect">
            <a:avLst/>
          </a:prstGeom>
          <a:solidFill>
            <a:srgbClr val="1D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01568" y="344728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2,000 leads/month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395020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Everything in Starter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445312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Google Places scraper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495604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Priority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1664208"/>
            <a:ext cx="2788920" cy="416052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1344" y="1664208"/>
            <a:ext cx="278892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5936" y="19202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224028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0F8"/>
                </a:solidFill>
                <a:latin typeface="Calibri"/>
              </a:rPr>
              <a:t>₹19,999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287121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8"/>
                </a:solidFill>
                <a:latin typeface="Calibri"/>
              </a:rPr>
              <a:t>/mo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45936" y="3154680"/>
            <a:ext cx="2459736" cy="18288"/>
          </a:xfrm>
          <a:prstGeom prst="rect">
            <a:avLst/>
          </a:prstGeom>
          <a:solidFill>
            <a:srgbClr val="1D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32918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Unlimited leads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379475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Everything in Growth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5936" y="42976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Custom AI model tuning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48006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Full API access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25712" y="1664208"/>
            <a:ext cx="2788920" cy="416052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25712" y="1664208"/>
            <a:ext cx="27889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90304" y="19202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ENTERPRISE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0304" y="224028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0F8"/>
                </a:solidFill>
                <a:latin typeface="Calibri"/>
              </a:rPr>
              <a:t>Custom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90304" y="3154680"/>
            <a:ext cx="2459736" cy="18288"/>
          </a:xfrm>
          <a:prstGeom prst="rect">
            <a:avLst/>
          </a:prstGeom>
          <a:solidFill>
            <a:srgbClr val="1D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90304" y="32918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White-label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0304" y="379475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Dedicated infrastructure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0304" y="42976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SLA guarantee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0304" y="48006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On-premise option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961888"/>
            <a:ext cx="11274552" cy="713232"/>
          </a:xfrm>
          <a:prstGeom prst="rect">
            <a:avLst/>
          </a:prstGeom>
          <a:gradFill>
            <a:gsLst>
              <a:gs pos="0">
                <a:srgbClr val="111118"/>
              </a:gs>
              <a:gs pos="100000">
                <a:srgbClr val="16161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5961888"/>
            <a:ext cx="54864" cy="713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6035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₹3,000 CAC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63825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8"/>
                </a:solidFill>
                <a:latin typeface="Calibri"/>
              </a:rPr>
              <a:t>Customer Acquisition Cost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66160" y="6035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₹72,000 LTV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66160" y="63825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8"/>
                </a:solidFill>
                <a:latin typeface="Calibri"/>
              </a:rPr>
              <a:t>Lifetime Value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6035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24x LTV:CAC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63825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8"/>
                </a:solidFill>
                <a:latin typeface="Calibri"/>
              </a:rPr>
              <a:t>Unit Economics Ratio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0" y="6035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&gt;80% Margin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0" y="63825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8"/>
                </a:solidFill>
                <a:latin typeface="Calibri"/>
              </a:rPr>
              <a:t>Gross Profit Margin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1111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0" y="6702552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8"/>
                </a:solidFill>
                <a:latin typeface="Calibri"/>
              </a:rPr>
              <a:t>doott.in  ·  Akshat Verma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gradFill>
            <a:gsLst>
              <a:gs pos="0">
                <a:srgbClr val="a78bfa"/>
              </a:gs>
              <a:gs pos="100000">
                <a:srgbClr val="0a0a0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05  /  COMPETITIVE ADVANTAGE  (USP)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F0F0F8"/>
                </a:solidFill>
                <a:latin typeface="Calibri"/>
              </a:rPr>
              <a:t>Every Competitor Solves 1 Step. Doott Solves All 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A8"/>
                </a:solidFill>
                <a:latin typeface="Calibri"/>
              </a:rPr>
              <a:t>10x cheaper · India-native · only end-to-end AI sales platform in India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47088"/>
            <a:ext cx="11521440" cy="438912"/>
          </a:xfrm>
          <a:prstGeom prst="rect">
            <a:avLst/>
          </a:prstGeom>
          <a:gradFill>
            <a:gsLst>
              <a:gs pos="0">
                <a:srgbClr val="1d1d28"/>
              </a:gs>
              <a:gs pos="100000">
                <a:srgbClr val="16161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938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A8"/>
                </a:solidFill>
                <a:latin typeface="Calibri"/>
              </a:rPr>
              <a:t>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193852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A8"/>
                </a:solidFill>
                <a:latin typeface="Calibri"/>
              </a:rPr>
              <a:t>Apollo.io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93852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A8"/>
                </a:solidFill>
                <a:latin typeface="Calibri"/>
              </a:rPr>
              <a:t>ZoomInfo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193852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A8"/>
                </a:solidFill>
                <a:latin typeface="Calibri"/>
              </a:rPr>
              <a:t>Clay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193852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A8"/>
                </a:solidFill>
                <a:latin typeface="Calibri"/>
              </a:rPr>
              <a:t>Hunter.io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193852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DOOTT  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86000"/>
            <a:ext cx="11521440" cy="50292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2286000"/>
            <a:ext cx="2286000" cy="502920"/>
          </a:xfrm>
          <a:prstGeom prst="rect">
            <a:avLst/>
          </a:prstGeom>
          <a:gradFill>
            <a:gsLst>
              <a:gs pos="0">
                <a:srgbClr val="16161f"/>
              </a:gs>
              <a:gs pos="100000">
                <a:srgbClr val="1d1d2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23957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Company 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239572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39572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8" y="239572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A"/>
                </a:solidFill>
                <a:latin typeface="Calibri"/>
              </a:rPr>
              <a:t>Partial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239572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A"/>
                </a:solidFill>
                <a:latin typeface="Calibri"/>
              </a:rP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2395728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798064"/>
            <a:ext cx="11521440" cy="5029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09760" y="2798064"/>
            <a:ext cx="2286000" cy="502920"/>
          </a:xfrm>
          <a:prstGeom prst="rect">
            <a:avLst/>
          </a:prstGeom>
          <a:gradFill>
            <a:gsLst>
              <a:gs pos="0">
                <a:srgbClr val="16161f"/>
              </a:gs>
              <a:gs pos="100000">
                <a:srgbClr val="1d1d2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29077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Contact Enrichment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2928" y="290779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290779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9008" y="290779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290779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A"/>
                </a:solidFill>
                <a:latin typeface="Calibri"/>
              </a:rPr>
              <a:t>Email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290779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310128"/>
            <a:ext cx="11521440" cy="50292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9760" y="3310128"/>
            <a:ext cx="2286000" cy="502920"/>
          </a:xfrm>
          <a:prstGeom prst="rect">
            <a:avLst/>
          </a:prstGeom>
          <a:gradFill>
            <a:gsLst>
              <a:gs pos="0">
                <a:srgbClr val="16161f"/>
              </a:gs>
              <a:gs pos="100000">
                <a:srgbClr val="1d1d2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34198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AI Email Writing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2928" y="3419856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A"/>
                </a:solidFill>
                <a:latin typeface="Calibri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3419856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A"/>
                </a:solidFill>
                <a:latin typeface="Calibri"/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79008" y="3419856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A"/>
                </a:solidFill>
                <a:latin typeface="Calibri"/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2048" y="3419856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A"/>
                </a:solidFill>
                <a:latin typeface="Calibri"/>
              </a:rP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419856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822192"/>
            <a:ext cx="11521440" cy="5029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09760" y="3822192"/>
            <a:ext cx="2286000" cy="502920"/>
          </a:xfrm>
          <a:prstGeom prst="rect">
            <a:avLst/>
          </a:prstGeom>
          <a:gradFill>
            <a:gsLst>
              <a:gs pos="0">
                <a:srgbClr val="16161f"/>
              </a:gs>
              <a:gs pos="100000">
                <a:srgbClr val="1d1d2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" y="39319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Automated Sending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52928" y="393192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A"/>
                </a:solidFill>
                <a:latin typeface="Calibri"/>
              </a:rP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5968" y="393192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A"/>
                </a:solidFill>
                <a:latin typeface="Calibri"/>
              </a:rP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79008" y="393192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A"/>
                </a:solidFill>
                <a:latin typeface="Calibri"/>
              </a:rP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42048" y="393192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A"/>
                </a:solidFill>
                <a:latin typeface="Calibri"/>
              </a:rPr>
              <a:t>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393192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334256"/>
            <a:ext cx="11521440" cy="50292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09760" y="4334256"/>
            <a:ext cx="2286000" cy="502920"/>
          </a:xfrm>
          <a:prstGeom prst="rect">
            <a:avLst/>
          </a:prstGeom>
          <a:gradFill>
            <a:gsLst>
              <a:gs pos="0">
                <a:srgbClr val="16161f"/>
              </a:gs>
              <a:gs pos="100000">
                <a:srgbClr val="1d1d2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8" y="44439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Lead Scoring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52928" y="4443984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A"/>
                </a:solidFill>
                <a:latin typeface="Calibri"/>
              </a:rPr>
              <a:t>Basic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15968" y="4443984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A"/>
                </a:solidFill>
                <a:latin typeface="Calibri"/>
              </a:rPr>
              <a:t>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79008" y="4443984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A"/>
                </a:solidFill>
                <a:latin typeface="Calibri"/>
              </a:rPr>
              <a:t>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42048" y="4443984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A"/>
                </a:solidFill>
                <a:latin typeface="Calibri"/>
              </a:rPr>
              <a:t>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05088" y="4443984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  AI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4846320"/>
            <a:ext cx="11521440" cy="5029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09760" y="4846320"/>
            <a:ext cx="2286000" cy="502920"/>
          </a:xfrm>
          <a:prstGeom prst="rect">
            <a:avLst/>
          </a:prstGeom>
          <a:gradFill>
            <a:gsLst>
              <a:gs pos="0">
                <a:srgbClr val="16161f"/>
              </a:gs>
              <a:gs pos="100000">
                <a:srgbClr val="1d1d2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9768" y="495604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India-Native Data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52928" y="495604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A"/>
                </a:solidFill>
                <a:latin typeface="Calibri"/>
              </a:rPr>
              <a:t>Partial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15968" y="495604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A"/>
                </a:solidFill>
                <a:latin typeface="Calibri"/>
              </a:rPr>
              <a:t>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79008" y="495604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A"/>
                </a:solidFill>
                <a:latin typeface="Calibri"/>
              </a:rPr>
              <a:t>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42048" y="495604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A"/>
                </a:solidFill>
                <a:latin typeface="Calibri"/>
              </a:rPr>
              <a:t>Partial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05088" y="4956048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  Native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5358384"/>
            <a:ext cx="11521440" cy="50292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09760" y="5358384"/>
            <a:ext cx="2286000" cy="502920"/>
          </a:xfrm>
          <a:prstGeom prst="rect">
            <a:avLst/>
          </a:prstGeom>
          <a:gradFill>
            <a:gsLst>
              <a:gs pos="0">
                <a:srgbClr val="16161f"/>
              </a:gs>
              <a:gs pos="100000">
                <a:srgbClr val="1d1d2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9768" y="54681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Monthly Price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52928" y="546811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$99+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15968" y="546811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$1,250+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79008" y="546811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$149+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42048" y="546811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$49+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05088" y="546811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₹2,999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6053328"/>
            <a:ext cx="11274552" cy="594360"/>
          </a:xfrm>
          <a:prstGeom prst="rect">
            <a:avLst/>
          </a:prstGeom>
          <a:gradFill>
            <a:gsLst>
              <a:gs pos="0">
                <a:srgbClr val="111118"/>
              </a:gs>
              <a:gs pos="100000">
                <a:srgbClr val="16161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57200" y="6053328"/>
            <a:ext cx="54864" cy="59436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8368" y="61447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0F8"/>
                </a:solidFill>
                <a:latin typeface="Calibri"/>
              </a:rPr>
              <a:t>🏆  10x cheaper than ZoomInfo  ·  Only all-in-one for India  ·  AI personalization reads each target's website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1111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0" y="6702552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8"/>
                </a:solidFill>
                <a:latin typeface="Calibri"/>
              </a:rPr>
              <a:t>doott.in  ·  Akshat Verma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gradFill>
            <a:gsLst>
              <a:gs pos="0">
                <a:srgbClr val="10b981"/>
              </a:gs>
              <a:gs pos="100000">
                <a:srgbClr val="22d3ee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06  / 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F0F0F8"/>
                </a:solidFill>
                <a:latin typeface="Calibri"/>
              </a:rPr>
              <a:t>Not a Deck — A Working Product, Live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A8"/>
                </a:solidFill>
                <a:latin typeface="Calibri"/>
              </a:rPr>
              <a:t>Built, deployed, and processing real Indian B2B data right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874519"/>
            <a:ext cx="2761488" cy="173736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874519"/>
            <a:ext cx="2761488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75687"/>
            <a:ext cx="24871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2D3EE"/>
                </a:solidFill>
                <a:latin typeface="Calibri"/>
              </a:rPr>
              <a:t>1,00,000+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39"/>
            <a:ext cx="24871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  <a:latin typeface="Calibri"/>
              </a:rPr>
              <a:t>Indian B2B
Contacts Indexed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8416" y="1874519"/>
            <a:ext cx="2761488" cy="173736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8416" y="1874519"/>
            <a:ext cx="276148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2075687"/>
            <a:ext cx="24871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78BFA"/>
                </a:solidFill>
                <a:latin typeface="Calibri"/>
              </a:rPr>
              <a:t>15+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834639"/>
            <a:ext cx="24871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  <a:latin typeface="Calibri"/>
              </a:rPr>
              <a:t>Platform Modules
Built &amp; Live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1874519"/>
            <a:ext cx="2761488" cy="173736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2784" y="1874519"/>
            <a:ext cx="276148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075687"/>
            <a:ext cx="24871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0B981"/>
                </a:solidFill>
                <a:latin typeface="Calibri"/>
              </a:rPr>
              <a:t>38%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834639"/>
            <a:ext cx="24871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  <a:latin typeface="Calibri"/>
              </a:rPr>
              <a:t>Email Open Rate
vs 21% industry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7152" y="1874519"/>
            <a:ext cx="2761488" cy="173736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17152" y="1874519"/>
            <a:ext cx="2761488" cy="6400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1744" y="2075687"/>
            <a:ext cx="24871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3744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2834639"/>
            <a:ext cx="24871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  <a:latin typeface="Calibri"/>
              </a:rPr>
              <a:t>Autonomous AI
Agents Running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49039"/>
            <a:ext cx="11274552" cy="749808"/>
          </a:xfrm>
          <a:prstGeom prst="rect">
            <a:avLst/>
          </a:prstGeom>
          <a:gradFill>
            <a:gsLst>
              <a:gs pos="0">
                <a:srgbClr val="111118"/>
              </a:gs>
              <a:gs pos="100000">
                <a:srgbClr val="16161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49039"/>
            <a:ext cx="54864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794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CURRENT REVENUE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041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0F8"/>
                </a:solidFill>
                <a:latin typeface="Calibri"/>
              </a:rPr>
              <a:t>Early traction stage · First pilot users onboarded for validation · Pre-revenue → targeting ₹16L MRR by Q4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A8"/>
                </a:solidFill>
                <a:latin typeface="Calibri"/>
              </a:rPr>
              <a:t>PRODUCT MILESTONES ACHIEVED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5010912"/>
            <a:ext cx="5623560" cy="438912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" y="51023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8"/>
                </a:solidFill>
                <a:latin typeface="Calibri"/>
              </a:rPr>
              <a:t>✅  6-Agent AI Pipeline fully operational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54496" y="5010912"/>
            <a:ext cx="5623560" cy="438912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1656" y="51023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8"/>
                </a:solidFill>
                <a:latin typeface="Calibri"/>
              </a:rPr>
              <a:t>✅  India B2B Database — 1L+ verified contacts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5532120"/>
            <a:ext cx="5623560" cy="438912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" y="562356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8"/>
                </a:solidFill>
                <a:latin typeface="Calibri"/>
              </a:rPr>
              <a:t>✅  RAG AI Chatbot — knowledge-base powered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54496" y="5532120"/>
            <a:ext cx="5623560" cy="438912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1656" y="562356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8"/>
                </a:solidFill>
                <a:latin typeface="Calibri"/>
              </a:rPr>
              <a:t>✅  Social Media Automation (LinkedIn, IG, X, FB)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053328"/>
            <a:ext cx="5623560" cy="438912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" y="61447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8"/>
                </a:solidFill>
                <a:latin typeface="Calibri"/>
              </a:rPr>
              <a:t>✅  Google Places Scraper — geo-targeted leads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54496" y="6053328"/>
            <a:ext cx="5623560" cy="438912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656" y="61447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8"/>
                </a:solidFill>
                <a:latin typeface="Calibri"/>
              </a:rPr>
              <a:t>✅  Multi-tenant CRM — org-level data isolation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1111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0" y="6702552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A8"/>
                </a:solidFill>
                <a:latin typeface="Calibri"/>
              </a:rPr>
              <a:t>doott.in  ·  Akshat Verma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0e0e18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gradFill>
            <a:gsLst>
              <a:gs pos="0">
                <a:srgbClr val="E23744"/>
              </a:gs>
              <a:gs pos="100000">
                <a:srgbClr val="a78bfa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Calibri"/>
              </a:rPr>
              <a:t>07  /  VISION  &amp; 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F0F0F8"/>
                </a:solidFill>
                <a:latin typeface="Calibri"/>
              </a:rPr>
              <a:t>India's AI Sales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A8"/>
                </a:solidFill>
                <a:latin typeface="Calibri"/>
              </a:rPr>
              <a:t>The Salesforce of the AI era — built for India, scaled across Southeast Asia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74552" cy="960120"/>
          </a:xfrm>
          <a:prstGeom prst="rect">
            <a:avLst/>
          </a:prstGeom>
          <a:gradFill>
            <a:gsLst>
              <a:gs pos="0">
                <a:srgbClr val="111118"/>
              </a:gs>
              <a:gs pos="100000">
                <a:srgbClr val="16161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64008" cy="96012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F0F8"/>
                </a:solidFill>
                <a:latin typeface="Calibri"/>
              </a:rPr>
              <a:t>"Every B2B company in India will use Doott the same way every business uses email — as an indispensable, invisible engine running underneath their growth."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A8"/>
                </a:solidFill>
                <a:latin typeface="Calibri"/>
              </a:rPr>
              <a:t>12-MONTH ROADMAP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907792"/>
            <a:ext cx="2761488" cy="1572768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4416552"/>
            <a:ext cx="2761488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2999232"/>
            <a:ext cx="2487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Q3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3291840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0F8"/>
                </a:solidFill>
                <a:latin typeface="Calibri"/>
              </a:rPr>
              <a:t>🚀  Public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3712464"/>
            <a:ext cx="24871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  <a:latin typeface="Calibri"/>
              </a:rPr>
              <a:t>50 paying customers
Product-market fit validation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28416" y="2907792"/>
            <a:ext cx="2761488" cy="1572768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28416" y="4416552"/>
            <a:ext cx="276148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65576" y="2999232"/>
            <a:ext cx="2487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Q4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5576" y="3291840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0F8"/>
                </a:solidFill>
                <a:latin typeface="Calibri"/>
              </a:rPr>
              <a:t>📈  Scale 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5576" y="3712464"/>
            <a:ext cx="24871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  <a:latin typeface="Calibri"/>
              </a:rPr>
              <a:t>200 customers
₹16 Lakh MRR achieved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2784" y="2907792"/>
            <a:ext cx="2761488" cy="1572768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2784" y="4416552"/>
            <a:ext cx="276148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2999232"/>
            <a:ext cx="2487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Q1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291840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0F8"/>
                </a:solidFill>
                <a:latin typeface="Calibri"/>
              </a:rPr>
              <a:t>🌏  Regional Push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3712464"/>
            <a:ext cx="24871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  <a:latin typeface="Calibri"/>
              </a:rPr>
              <a:t>Southeast Asia expansion
1,000 customers target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17152" y="2907792"/>
            <a:ext cx="2761488" cy="1572768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17152" y="4416552"/>
            <a:ext cx="2761488" cy="6400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54312" y="2999232"/>
            <a:ext cx="2487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Calibri"/>
              </a:rPr>
              <a:t>2028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3291840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0F8"/>
                </a:solidFill>
                <a:latin typeface="Calibri"/>
              </a:rPr>
              <a:t>🏆  Category Leader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4312" y="3712464"/>
            <a:ext cx="24871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  <a:latin typeface="Calibri"/>
              </a:rPr>
              <a:t>$100M ARR vision
10,000+ global customers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45152"/>
            <a:ext cx="11274552" cy="1828800"/>
          </a:xfrm>
          <a:prstGeom prst="rect">
            <a:avLst/>
          </a:prstGeom>
          <a:gradFill>
            <a:gsLst>
              <a:gs pos="0">
                <a:srgbClr val="111118"/>
              </a:gs>
              <a:gs pos="100000">
                <a:srgbClr val="16161f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645152"/>
            <a:ext cx="64008" cy="18288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645152"/>
            <a:ext cx="11274552" cy="64008"/>
          </a:xfrm>
          <a:prstGeom prst="rect">
            <a:avLst/>
          </a:prstGeom>
          <a:gradFill>
            <a:gsLst>
              <a:gs pos="0">
                <a:srgbClr val="E23744"/>
              </a:gs>
              <a:gs pos="100000">
                <a:srgbClr val="a78bfa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70916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F0F8"/>
                </a:solidFill>
                <a:latin typeface="Calibri"/>
              </a:rPr>
              <a:t>RAISING  ₹50 LAKHS  —  SEED ROUND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2578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D3EE"/>
                </a:solidFill>
                <a:latin typeface="Calibri"/>
              </a:rPr>
              <a:t>40%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7332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8"/>
                </a:solidFill>
                <a:latin typeface="Calibri"/>
              </a:rPr>
              <a:t>Engineering &amp; AI Infrastructure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2578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D3EE"/>
                </a:solidFill>
                <a:latin typeface="Calibri"/>
              </a:rPr>
              <a:t>35%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57332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8"/>
                </a:solidFill>
                <a:latin typeface="Calibri"/>
              </a:rPr>
              <a:t>Sales &amp; Marketing (CAC)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79" y="52578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D3EE"/>
                </a:solidFill>
                <a:latin typeface="Calibri"/>
              </a:rPr>
              <a:t>15%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79" y="57332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8"/>
                </a:solidFill>
                <a:latin typeface="Calibri"/>
              </a:rPr>
              <a:t>Team — 2 key hires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3999" y="52578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D3EE"/>
                </a:solidFill>
                <a:latin typeface="Calibri"/>
              </a:rPr>
              <a:t>10%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3999" y="57332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8"/>
                </a:solidFill>
                <a:latin typeface="Calibri"/>
              </a:rPr>
              <a:t>Operations &amp; Legal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A8"/>
                </a:solidFill>
                <a:latin typeface="Calibri"/>
              </a:rPr>
              <a:t>Akshat Verma  ·  Founder &amp; CEO  ·  doott.in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