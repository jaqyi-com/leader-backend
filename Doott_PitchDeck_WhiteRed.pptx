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0"/>
          </a:xfrm>
          <a:prstGeom prst="rect">
            <a:avLst/>
          </a:prstGeom>
          <a:gradFill>
            <a:gsLst>
              <a:gs pos="0">
                <a:srgbClr val="E23744"/>
              </a:gs>
              <a:gs pos="100000">
                <a:srgbClr val="C0202D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88952" cy="731520"/>
          </a:xfrm>
          <a:prstGeom prst="rect">
            <a:avLst/>
          </a:prstGeom>
          <a:gradFill>
            <a:gsLst>
              <a:gs pos="0">
                <a:srgbClr val="E23744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0" b="1" i="0">
                <a:solidFill>
                  <a:srgbClr val="FFFFFF"/>
                </a:solidFill>
                <a:latin typeface="Calibri"/>
              </a:rPr>
              <a:t>doott.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Your AI Sales Team. Always On. Always Working.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CCCC"/>
                </a:solidFill>
                <a:latin typeface="Calibri"/>
              </a:rPr>
              <a:t>AI-Powered B2B Lead Generation &amp; Sales Automation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274320"/>
            <a:ext cx="2286000" cy="411480"/>
          </a:xfrm>
          <a:prstGeom prst="rect">
            <a:avLst/>
          </a:prstGeom>
          <a:solidFill>
            <a:srgbClr val="C02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0" y="3200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UdbhavX 2.0  ·  25 Aug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566160"/>
            <a:ext cx="2011680" cy="384048"/>
          </a:xfrm>
          <a:prstGeom prst="rect">
            <a:avLst/>
          </a:prstGeom>
          <a:solidFill>
            <a:srgbClr val="FF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566160"/>
            <a:ext cx="45720" cy="384048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593592"/>
            <a:ext cx="18745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3744"/>
                </a:solidFill>
                <a:latin typeface="Calibri"/>
              </a:rPr>
              <a:t>🤖 AI-Native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3566160"/>
            <a:ext cx="2011680" cy="384048"/>
          </a:xfrm>
          <a:prstGeom prst="rect">
            <a:avLst/>
          </a:prstGeom>
          <a:solidFill>
            <a:srgbClr val="FF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17520" y="3566160"/>
            <a:ext cx="45720" cy="384048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27248" y="3593592"/>
            <a:ext cx="18745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📊 B2B SaaS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3566160"/>
            <a:ext cx="2011680" cy="384048"/>
          </a:xfrm>
          <a:prstGeom prst="rect">
            <a:avLst/>
          </a:prstGeom>
          <a:solidFill>
            <a:srgbClr val="FF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12080" y="3566160"/>
            <a:ext cx="45720" cy="384048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21808" y="3593592"/>
            <a:ext cx="18745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23744"/>
                </a:solidFill>
                <a:latin typeface="Calibri"/>
              </a:rPr>
              <a:t>🇮🇳 India-First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160520"/>
            <a:ext cx="5943600" cy="777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160520"/>
            <a:ext cx="45720" cy="77724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206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Akshat Verma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5262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Founder &amp; CEO  ·  doott.in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5166360"/>
            <a:ext cx="246888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6272784"/>
            <a:ext cx="2468880" cy="36576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23036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23744"/>
                </a:solidFill>
                <a:latin typeface="Calibri"/>
              </a:rPr>
              <a:t>10,000+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7607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Leads/Week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5166360"/>
            <a:ext cx="246888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74720" y="6272784"/>
            <a:ext cx="2468880" cy="36576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11880" y="523036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23744"/>
                </a:solidFill>
                <a:latin typeface="Calibri"/>
              </a:rPr>
              <a:t>38%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57607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Email Open Rate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5166360"/>
            <a:ext cx="246888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6272784"/>
            <a:ext cx="2468880" cy="36576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523036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23744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57607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AI Agents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78240" y="5166360"/>
            <a:ext cx="246888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778240" y="6272784"/>
            <a:ext cx="2468880" cy="36576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5400" y="523036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23744"/>
                </a:solidFill>
                <a:latin typeface="Calibri"/>
              </a:rPr>
              <a:t>15+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57607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Modules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0" y="6556248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Startup Pitch  ·  UdbhavX 2.0  ·  IE Cell, SAIT Indore  ·  25th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gradFill>
            <a:gsLst>
              <a:gs pos="0">
                <a:srgbClr val="E23744"/>
              </a:gs>
              <a:gs pos="100000">
                <a:srgbClr val="C0202D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3744"/>
                </a:solidFill>
                <a:latin typeface="Calibri"/>
              </a:rPr>
              <a:t>01  /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B2B Sales Teams Are Stuck in 2010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Sales reps spend only 27% of their time actually selling — the rest is costly manual busywork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64208"/>
            <a:ext cx="11274552" cy="804672"/>
          </a:xfrm>
          <a:prstGeom prst="rect">
            <a:avLst/>
          </a:prstGeom>
          <a:solidFill>
            <a:srgbClr val="FF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64208"/>
            <a:ext cx="54864" cy="804672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70078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3744"/>
                </a:solidFill>
                <a:latin typeface="Calibri"/>
              </a:rPr>
              <a:t>ONE-LINE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3852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0F172A"/>
                </a:solidFill>
                <a:latin typeface="Calibri"/>
              </a:rPr>
              <a:t>"Doott is the AI that finds your customers, writes their emails, and scores every lead — automatically."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2560320" cy="288036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81635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291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Finding
Companies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82219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D0D4"/>
                </a:solidFill>
                <a:latin typeface="Calibri"/>
              </a:rPr>
              <a:t>3 hrs/day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3434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CCC"/>
                </a:solidFill>
                <a:latin typeface="Calibri"/>
              </a:rPr>
              <a:t>Scanning directories, LinkedIn &amp; Google manually every 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651760"/>
            <a:ext cx="2560320" cy="2880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64992" y="281635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2" y="3291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Finding
Contacts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2" y="382219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D0D4"/>
                </a:solidFill>
                <a:latin typeface="Calibri"/>
              </a:rPr>
              <a:t>2 hrs/day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2" y="43434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CCC"/>
                </a:solidFill>
                <a:latin typeface="Calibri"/>
              </a:rPr>
              <a:t>Hunting for verified decision-maker emails &amp; phones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2651760"/>
            <a:ext cx="2560320" cy="288036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08192" y="281635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3291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Writing
Cold Emails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08192" y="382219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D0D4"/>
                </a:solidFill>
                <a:latin typeface="Calibri"/>
              </a:rPr>
              <a:t>4 hrs/day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08192" y="43434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CCC"/>
                </a:solidFill>
                <a:latin typeface="Calibri"/>
              </a:rPr>
              <a:t>Crafting unique personalized emails one by one from scratch</a:t>
            </a:r>
          </a:p>
        </p:txBody>
      </p:sp>
      <p:pic>
        <p:nvPicPr>
          <p:cNvPr id="25" name="Picture 24" descr="doott_problem_illustration_17866218993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2514600"/>
            <a:ext cx="3383280" cy="310896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457200" y="5650992"/>
            <a:ext cx="11274552" cy="1371600"/>
          </a:xfrm>
          <a:prstGeom prst="rect">
            <a:avLst/>
          </a:prstGeom>
          <a:solidFill>
            <a:srgbClr val="FF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815584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23744"/>
                </a:solidFill>
                <a:latin typeface="Calibri"/>
              </a:rPr>
              <a:t>₹10L/year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309360"/>
            <a:ext cx="25443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Cost of 1 SDR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4438" y="5815584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23744"/>
                </a:solidFill>
                <a:latin typeface="Calibri"/>
              </a:rPr>
              <a:t>40 leads/wk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4438" y="6309360"/>
            <a:ext cx="25443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SDR Capacity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3076" y="5815584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23744"/>
                </a:solidFill>
                <a:latin typeface="Calibri"/>
              </a:rPr>
              <a:t>27%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3076" y="6309360"/>
            <a:ext cx="25443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Time Selling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1714" y="5815584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23744"/>
                </a:solidFill>
                <a:latin typeface="Calibri"/>
              </a:rPr>
              <a:t>18 months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1714" y="6309360"/>
            <a:ext cx="25443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SDR Tenure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gradFill>
            <a:gsLst>
              <a:gs pos="0">
                <a:srgbClr val="E23744"/>
              </a:gs>
              <a:gs pos="100000">
                <a:srgbClr val="C0202D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3744"/>
                </a:solidFill>
                <a:latin typeface="Calibri"/>
              </a:rPr>
              <a:t>02  / 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Meet Doott — One Platform. Entire Sales Pipeline.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6-stage autonomous AI pipeline · 10,000 leads/week · zero manual effort</a:t>
            </a:r>
          </a:p>
        </p:txBody>
      </p:sp>
      <p:pic>
        <p:nvPicPr>
          <p:cNvPr id="6" name="Picture 5" descr="doott_solution_pipeline_17866220587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64208"/>
            <a:ext cx="11274552" cy="1920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20040" y="3767328"/>
            <a:ext cx="1828800" cy="1874519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387705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4270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4608576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CCCC"/>
                </a:solidFill>
                <a:latin typeface="Calibri"/>
              </a:rPr>
              <a:t>Finds ICP-matched companies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3767328"/>
            <a:ext cx="1828800" cy="187451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95728" y="387705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4270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ENRICH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4608576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CCCC"/>
                </a:solidFill>
                <a:latin typeface="Calibri"/>
              </a:rPr>
              <a:t>Verified emails &amp; decision-makers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3767328"/>
            <a:ext cx="1828800" cy="1874519"/>
          </a:xfrm>
          <a:prstGeom prst="rect">
            <a:avLst/>
          </a:prstGeom>
          <a:solidFill>
            <a:srgbClr val="B9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1687" y="387705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✉️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7" y="4270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OUTREACH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7" y="4608576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CCCC"/>
                </a:solidFill>
                <a:latin typeface="Calibri"/>
              </a:rPr>
              <a:t>AI-written personalized emails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19" y="3767328"/>
            <a:ext cx="1828800" cy="1874519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7" y="387705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7" y="4270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7" y="4608576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CCCC"/>
                </a:solidFill>
                <a:latin typeface="Calibri"/>
              </a:rPr>
              <a:t>Scores every lead 0–100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3767328"/>
            <a:ext cx="1828800" cy="1874519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607" y="387705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7" y="4270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7" y="4608576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CCCC"/>
                </a:solidFill>
                <a:latin typeface="Calibri"/>
              </a:rPr>
              <a:t>Live Google Sheets dashboard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49840" y="3767328"/>
            <a:ext cx="1828800" cy="1874519"/>
          </a:xfrm>
          <a:prstGeom prst="rect">
            <a:avLst/>
          </a:prstGeom>
          <a:solidFill>
            <a:srgbClr val="45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59568" y="387705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59568" y="4270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CHATBOT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59568" y="4608576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CCCC"/>
                </a:solidFill>
                <a:latin typeface="Calibri"/>
              </a:rPr>
              <a:t>RAG AI chatbot 24/7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79008"/>
            <a:ext cx="11274552" cy="713232"/>
          </a:xfrm>
          <a:prstGeom prst="rect">
            <a:avLst/>
          </a:prstGeom>
          <a:solidFill>
            <a:srgbClr val="FF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779008"/>
            <a:ext cx="54864" cy="713232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8704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3744"/>
                </a:solidFill>
                <a:latin typeface="Calibri"/>
              </a:rPr>
              <a:t>⚡  Result:  What takes a sales team 1 full week — Doott does in 5 minutes.  10,000 leads/week.  Zero manual effort.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gradFill>
            <a:gsLst>
              <a:gs pos="0">
                <a:srgbClr val="E23744"/>
              </a:gs>
              <a:gs pos="100000">
                <a:srgbClr val="C0202D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3744"/>
                </a:solidFill>
                <a:latin typeface="Calibri"/>
              </a:rPr>
              <a:t>03  /  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A $5.9B Market — 97% Still Untapped in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22% CAGR · 63 million Indian SMBs · no end-to-end AI sales solution exists for India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2578608"/>
            <a:ext cx="4754880" cy="420624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267004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CCC"/>
                </a:solidFill>
                <a:latin typeface="Calibri"/>
              </a:rP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2944368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$5.9B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6007608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CCC"/>
                </a:solidFill>
                <a:latin typeface="Calibri"/>
              </a:rPr>
              <a:t>Global B2B Lead Gen
Market by 2030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35808"/>
            <a:ext cx="3657600" cy="3291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12724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CCC"/>
                </a:solidFill>
                <a:latin typeface="Calibri"/>
              </a:rPr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40156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$800M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55040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CCC"/>
                </a:solidFill>
                <a:latin typeface="Calibri"/>
              </a:rPr>
              <a:t>India B2B SaaS
Sales Market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" y="3493008"/>
            <a:ext cx="2560320" cy="237744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58444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CCC"/>
                </a:solidFill>
                <a:latin typeface="Calibri"/>
              </a:rPr>
              <a:t>SOM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858768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$40M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5093208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CCC"/>
                </a:solidFill>
                <a:latin typeface="Calibri"/>
              </a:rPr>
              <a:t>India SMB Segment
Year 1–2 Target</a:t>
            </a:r>
          </a:p>
        </p:txBody>
      </p:sp>
      <p:pic>
        <p:nvPicPr>
          <p:cNvPr id="18" name="Picture 17" descr="doott_market_india_17866222203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572768"/>
            <a:ext cx="6400800" cy="393192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57200" y="5650992"/>
            <a:ext cx="11274552" cy="1371600"/>
          </a:xfrm>
          <a:prstGeom prst="rect">
            <a:avLst/>
          </a:prstGeom>
          <a:solidFill>
            <a:srgbClr val="FF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815584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23744"/>
                </a:solidFill>
                <a:latin typeface="Calibri"/>
              </a:rPr>
              <a:t>63 Million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309360"/>
            <a:ext cx="25443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SMBs in India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4438" y="5815584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23744"/>
                </a:solidFill>
                <a:latin typeface="Calibri"/>
              </a:rPr>
              <a:t>22% CAGR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4438" y="6309360"/>
            <a:ext cx="25443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Market Growth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3076" y="5815584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23744"/>
                </a:solidFill>
                <a:latin typeface="Calibri"/>
              </a:rPr>
              <a:t>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076" y="6309360"/>
            <a:ext cx="25443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Use Any Automation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1714" y="5815584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23744"/>
                </a:solidFill>
                <a:latin typeface="Calibri"/>
              </a:rPr>
              <a:t>ZERO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1714" y="6309360"/>
            <a:ext cx="25443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End-to-End AI for India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gradFill>
            <a:gsLst>
              <a:gs pos="0">
                <a:srgbClr val="E23744"/>
              </a:gs>
              <a:gs pos="100000">
                <a:srgbClr val="C0202D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3744"/>
                </a:solidFill>
                <a:latin typeface="Calibri"/>
              </a:rPr>
              <a:t>04  / 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SaaS — High-Margin Recurring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Monthly subscriptions · Pay-per-lead credits · Enterprise white-label · API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664208"/>
            <a:ext cx="2788920" cy="413308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2608" y="1664208"/>
            <a:ext cx="2788920" cy="64008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89280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3744"/>
                </a:solidFill>
                <a:latin typeface="Calibri"/>
              </a:rPr>
              <a:t>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231136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₹2,999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852928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3145536"/>
            <a:ext cx="24231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32918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✓  500 leads/month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3803904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✓  AI email writing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31596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✓  Lead scoring 0–100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4828032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✓  Sheets dashboard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36976" y="1664208"/>
            <a:ext cx="2788920" cy="4133087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36976" y="1664208"/>
            <a:ext cx="278892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37176" y="1773936"/>
            <a:ext cx="10972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37176" y="17922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23744"/>
                </a:solidFill>
                <a:latin typeface="Calibri"/>
              </a:rPr>
              <a:t>★ POPULAR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9856" y="189280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GROWTH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9856" y="2231136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₹7,999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9856" y="2852928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/mo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19856" y="3145536"/>
            <a:ext cx="242316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19856" y="32918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✓  2,000 leads/month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9856" y="3803904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✓  Everything in Starter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19856" y="431596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✓  Google Places scraper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19856" y="4828032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✓  Priority support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81344" y="1664208"/>
            <a:ext cx="2788920" cy="413308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81344" y="1664208"/>
            <a:ext cx="2788920" cy="64008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9280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3744"/>
                </a:solidFill>
                <a:latin typeface="Calibri"/>
              </a:rPr>
              <a:t>SCALE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4224" y="2231136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Calibri"/>
              </a:rPr>
              <a:t>₹19,999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4224" y="2852928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/mo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64224" y="3145536"/>
            <a:ext cx="24231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4224" y="32918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✓  Unlimited leads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4224" y="3803904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✓  Everything in Growth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4224" y="431596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✓  Custom AI tuning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64224" y="4828032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✓  Full API access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25712" y="1664208"/>
            <a:ext cx="2788920" cy="4133087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25712" y="1664208"/>
            <a:ext cx="2788920" cy="64008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08592" y="189280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ENTERPRISE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08592" y="2231136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Custom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08592" y="3145536"/>
            <a:ext cx="24231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08592" y="329184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✓  White-label 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08592" y="3803904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✓  Dedicated infra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08592" y="431596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✓  SLA guarantee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08592" y="4828032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✓  On-premise option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961888"/>
            <a:ext cx="11274552" cy="713232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7280" y="60807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₹3,000  ·  CAC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0480" y="60807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₹72,000  ·  LTV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60807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24x  ·  LTV:CAC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6880" y="60807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&gt;80%  ·  Gross Margin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C02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gradFill>
            <a:gsLst>
              <a:gs pos="0">
                <a:srgbClr val="E23744"/>
              </a:gs>
              <a:gs pos="100000">
                <a:srgbClr val="C0202D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3744"/>
                </a:solidFill>
                <a:latin typeface="Calibri"/>
              </a:rPr>
              <a:t>05  /  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Every Competitor Solves 1 Step. Doott Solves All 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10x cheaper · India-native data · only all-in-one AI sales platform in India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828800"/>
            <a:ext cx="1152144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920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Capability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2928" y="19202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Apollo.io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19202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ZoomInfo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9008" y="19202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2048" y="19202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Hunter.io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5088" y="19202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A88"/>
                </a:solidFill>
                <a:latin typeface="Calibri"/>
              </a:rPr>
              <a:t>DOOTT  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286000"/>
            <a:ext cx="1152144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0" y="2286000"/>
            <a:ext cx="2331720" cy="502920"/>
          </a:xfrm>
          <a:prstGeom prst="rect">
            <a:avLst/>
          </a:prstGeom>
          <a:solidFill>
            <a:srgbClr val="FF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509760" y="2286000"/>
            <a:ext cx="45720" cy="50292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239572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Company Discovery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2928" y="2395728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2395728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79008" y="2395728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Partial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8" y="2395728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088" y="2395728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3744"/>
                </a:solidFill>
                <a:latin typeface="Calibri"/>
              </a:rP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798064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09760" y="2798064"/>
            <a:ext cx="2331720" cy="502920"/>
          </a:xfrm>
          <a:prstGeom prst="rect">
            <a:avLst/>
          </a:prstGeom>
          <a:solidFill>
            <a:srgbClr val="FF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09760" y="2798064"/>
            <a:ext cx="45720" cy="50292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" y="290779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Contact Enrichment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2928" y="2907792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2907792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79008" y="2907792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42048" y="2907792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Email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05088" y="2907792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3744"/>
                </a:solidFill>
                <a:latin typeface="Calibri"/>
              </a:rP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310128"/>
            <a:ext cx="1152144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9760" y="3310128"/>
            <a:ext cx="2331720" cy="502920"/>
          </a:xfrm>
          <a:prstGeom prst="rect">
            <a:avLst/>
          </a:prstGeom>
          <a:solidFill>
            <a:srgbClr val="FF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09760" y="3310128"/>
            <a:ext cx="45720" cy="50292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" y="341985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AI Email Writing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52928" y="3419856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15968" y="3419856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79008" y="3419856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42048" y="3419856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05088" y="3419856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3744"/>
                </a:solidFill>
                <a:latin typeface="Calibri"/>
              </a:rPr>
              <a:t>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822192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509760" y="3822192"/>
            <a:ext cx="2331720" cy="502920"/>
          </a:xfrm>
          <a:prstGeom prst="rect">
            <a:avLst/>
          </a:prstGeom>
          <a:solidFill>
            <a:srgbClr val="FF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09760" y="3822192"/>
            <a:ext cx="45720" cy="50292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9768" y="393192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Automated Sending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52928" y="3931920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15968" y="3931920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79008" y="3931920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42048" y="3931920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05088" y="3931920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3744"/>
                </a:solidFill>
                <a:latin typeface="Calibri"/>
              </a:rPr>
              <a:t>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4334256"/>
            <a:ext cx="1152144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509760" y="4334256"/>
            <a:ext cx="2331720" cy="502920"/>
          </a:xfrm>
          <a:prstGeom prst="rect">
            <a:avLst/>
          </a:prstGeom>
          <a:solidFill>
            <a:srgbClr val="FF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509760" y="4334256"/>
            <a:ext cx="45720" cy="50292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768" y="444398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Lead Scoring AI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52928" y="4443984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Basic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15968" y="4443984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79008" y="4443984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42048" y="4443984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05088" y="4443984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3744"/>
                </a:solidFill>
                <a:latin typeface="Calibri"/>
              </a:rPr>
              <a:t>✓  AI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484632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09760" y="4846320"/>
            <a:ext cx="2331720" cy="502920"/>
          </a:xfrm>
          <a:prstGeom prst="rect">
            <a:avLst/>
          </a:prstGeom>
          <a:solidFill>
            <a:srgbClr val="FF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09760" y="4846320"/>
            <a:ext cx="45720" cy="50292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9768" y="495604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India-Native Data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52928" y="4956048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Partial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15968" y="4956048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✗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79008" y="4956048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✗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42048" y="4956048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Partial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705088" y="4956048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3744"/>
                </a:solidFill>
                <a:latin typeface="Calibri"/>
              </a:rPr>
              <a:t>✓  Native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" y="5358384"/>
            <a:ext cx="1152144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509760" y="5358384"/>
            <a:ext cx="2331720" cy="502920"/>
          </a:xfrm>
          <a:prstGeom prst="rect">
            <a:avLst/>
          </a:prstGeom>
          <a:solidFill>
            <a:srgbClr val="FF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509760" y="5358384"/>
            <a:ext cx="45720" cy="50292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9768" y="546811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Monthly Price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852928" y="5468112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$99+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15968" y="5468112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$1,250+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79008" y="5468112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$149+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42048" y="5468112"/>
            <a:ext cx="1325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$49+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705088" y="5468112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202D"/>
                </a:solidFill>
                <a:latin typeface="Calibri"/>
              </a:rPr>
              <a:t>₹2,999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" y="6053328"/>
            <a:ext cx="11274552" cy="59436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0" y="6144768"/>
            <a:ext cx="1218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🏆  10x cheaper than ZoomInfo  ·  Only all-in-one for India  ·  AI reads each target's website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C02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gradFill>
            <a:gsLst>
              <a:gs pos="0">
                <a:srgbClr val="E23744"/>
              </a:gs>
              <a:gs pos="100000">
                <a:srgbClr val="C0202D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3744"/>
                </a:solidFill>
                <a:latin typeface="Calibri"/>
              </a:rPr>
              <a:t>06  /  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  <a:latin typeface="Calibri"/>
              </a:rPr>
              <a:t>Not an Idea — A Working Product, Live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Calibri"/>
              </a:rPr>
              <a:t>Built, deployed, and processing real Indian B2B data right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664208"/>
            <a:ext cx="2651760" cy="1719072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1,00,000+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24328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CCC"/>
                </a:solidFill>
                <a:latin typeface="Calibri"/>
              </a:rPr>
              <a:t>Indian B2B
Contacts Indexed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18688" y="1664208"/>
            <a:ext cx="2651760" cy="17190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828800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15+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24328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CCC"/>
                </a:solidFill>
                <a:latin typeface="Calibri"/>
              </a:rPr>
              <a:t>Platform Modules
Built &amp; Live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3538728"/>
            <a:ext cx="2651760" cy="1719072"/>
          </a:xfrm>
          <a:prstGeom prst="rect">
            <a:avLst/>
          </a:prstGeom>
          <a:solidFill>
            <a:srgbClr val="B9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703320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38%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98848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CCC"/>
                </a:solidFill>
                <a:latin typeface="Calibri"/>
              </a:rPr>
              <a:t>Email Open Rate
vs 21% industry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18688" y="3538728"/>
            <a:ext cx="2651760" cy="1719072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3703320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498848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CCC"/>
                </a:solidFill>
                <a:latin typeface="Calibri"/>
              </a:rPr>
              <a:t>Autonomous AI
Agents Running</a:t>
            </a:r>
          </a:p>
        </p:txBody>
      </p:sp>
      <p:pic>
        <p:nvPicPr>
          <p:cNvPr id="18" name="Picture 17" descr="doott_traction_dashboard_17866223006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572768"/>
            <a:ext cx="5852160" cy="376732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57200" y="5440680"/>
            <a:ext cx="11274552" cy="749808"/>
          </a:xfrm>
          <a:prstGeom prst="rect">
            <a:avLst/>
          </a:prstGeom>
          <a:solidFill>
            <a:srgbClr val="FF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440680"/>
            <a:ext cx="54864" cy="749808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4864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23744"/>
                </a:solidFill>
                <a:latin typeface="Calibri"/>
              </a:rPr>
              <a:t>CURRENT REVENUE 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73328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Early traction · Pilot users onboarded · Pre-revenue → target ₹16L MRR by Q4 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309360"/>
            <a:ext cx="11274552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3825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Calibri"/>
              </a:rPr>
              <a:t>✅ AI Pipeline  ✅ 1L+ Contacts  ✅ RAG Chatbot  ✅ Social Automation  ✅ Places Scraper  ✅ Multi-tenant CRM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72768"/>
          </a:xfrm>
          <a:prstGeom prst="rect">
            <a:avLst/>
          </a:prstGeom>
          <a:gradFill>
            <a:gsLst>
              <a:gs pos="0">
                <a:srgbClr val="E23744"/>
              </a:gs>
              <a:gs pos="100000">
                <a:srgbClr val="C0202D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CCC"/>
                </a:solidFill>
                <a:latin typeface="Calibri"/>
              </a:rPr>
              <a:t>07  /  VISION  &amp;  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Building India's AI Sales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CCCC"/>
                </a:solidFill>
                <a:latin typeface="Calibri"/>
              </a:rPr>
              <a:t>The Salesforce of the AI era — India first, Southeast Asia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09928"/>
            <a:ext cx="11274552" cy="896112"/>
          </a:xfrm>
          <a:prstGeom prst="rect">
            <a:avLst/>
          </a:prstGeom>
          <a:solidFill>
            <a:srgbClr val="FF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09928"/>
            <a:ext cx="64008" cy="896112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01368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0202D"/>
                </a:solidFill>
                <a:latin typeface="Calibri"/>
              </a:rPr>
              <a:t>"Every B2B company in India will use Doott the same way they use email — an invisible engine running underneath their growth."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614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  <a:latin typeface="Calibri"/>
              </a:rPr>
              <a:t>12-MONTH ROADMAP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3090672"/>
            <a:ext cx="2761488" cy="1691640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3182112"/>
            <a:ext cx="2487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0D4"/>
                </a:solidFill>
                <a:latin typeface="Calibri"/>
              </a:rPr>
              <a:t>Q3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" y="3474720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🚀  Public Launch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3895344"/>
            <a:ext cx="24871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CCC"/>
                </a:solidFill>
                <a:latin typeface="Calibri"/>
              </a:rPr>
              <a:t>50 paying customers
Product-market fit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28416" y="3090672"/>
            <a:ext cx="2761488" cy="1691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65576" y="3182112"/>
            <a:ext cx="2487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0D4"/>
                </a:solidFill>
                <a:latin typeface="Calibri"/>
              </a:rPr>
              <a:t>Q4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5576" y="3474720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📈  Scale 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5576" y="3895344"/>
            <a:ext cx="24871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CCC"/>
                </a:solidFill>
                <a:latin typeface="Calibri"/>
              </a:rPr>
              <a:t>200 customers
₹16 Lakh MRR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2784" y="3090672"/>
            <a:ext cx="2761488" cy="1691640"/>
          </a:xfrm>
          <a:prstGeom prst="rect">
            <a:avLst/>
          </a:prstGeom>
          <a:solidFill>
            <a:srgbClr val="B91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3182112"/>
            <a:ext cx="2487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0D4"/>
                </a:solidFill>
                <a:latin typeface="Calibri"/>
              </a:rPr>
              <a:t>Q1 2027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3474720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🌏  Regional Push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3895344"/>
            <a:ext cx="24871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CCC"/>
                </a:solidFill>
                <a:latin typeface="Calibri"/>
              </a:rPr>
              <a:t>Southeast Asia
1,000 customers target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17152" y="3090672"/>
            <a:ext cx="2761488" cy="1691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54312" y="3182112"/>
            <a:ext cx="2487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2028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54312" y="3474720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🏆  Category Leader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4312" y="3895344"/>
            <a:ext cx="24871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8BAB"/>
                </a:solidFill>
                <a:latin typeface="Calibri"/>
              </a:rPr>
              <a:t>$100M ARR Vision
10,000+ customers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919472"/>
            <a:ext cx="11274552" cy="1664208"/>
          </a:xfrm>
          <a:prstGeom prst="rect">
            <a:avLst/>
          </a:prstGeom>
          <a:solidFill>
            <a:srgbClr val="E2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919472"/>
            <a:ext cx="11274552" cy="64008"/>
          </a:xfrm>
          <a:prstGeom prst="rect">
            <a:avLst/>
          </a:prstGeom>
          <a:solidFill>
            <a:srgbClr val="C02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983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RAISING  ₹50 LAKHS  —  SEED ROUND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53212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40%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00760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CCC"/>
                </a:solidFill>
                <a:latin typeface="Calibri"/>
              </a:rPr>
              <a:t>Engineering &amp;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1880" y="553212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35%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600760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CCC"/>
                </a:solidFill>
                <a:latin typeface="Calibri"/>
              </a:rPr>
              <a:t>Sales &amp; Marketing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553212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600760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CCC"/>
                </a:solidFill>
                <a:latin typeface="Calibri"/>
              </a:rPr>
              <a:t>Team — 2 Key Hires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553212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600760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CCC"/>
                </a:solidFill>
                <a:latin typeface="Calibri"/>
              </a:rPr>
              <a:t>Operations &amp; Legal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C02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0" y="6748272"/>
            <a:ext cx="1218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Akshat Verma  ·  Founder &amp; CEO  ·  doott.in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