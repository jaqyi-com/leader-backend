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3200400"/>
          </a:xfrm>
          <a:prstGeom prst="rect">
            <a:avLst/>
          </a:prstGeom>
          <a:gradFill>
            <a:gsLst>
              <a:gs pos="0">
                <a:srgbClr val="E23744"/>
              </a:gs>
              <a:gs pos="100000">
                <a:srgbClr val="C0202D"/>
              </a:gs>
            </a:gsLst>
            <a:lin ang="540000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00"/>
            <a:ext cx="12188952" cy="3657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743200"/>
            <a:ext cx="12188952" cy="731520"/>
          </a:xfrm>
          <a:prstGeom prst="rect">
            <a:avLst/>
          </a:prstGeom>
          <a:gradFill>
            <a:gsLst>
              <a:gs pos="0">
                <a:srgbClr val="E23744"/>
              </a:gs>
              <a:gs pos="100000">
                <a:srgbClr val="FFFFFF"/>
              </a:gs>
            </a:gsLst>
            <a:lin ang="540000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01168"/>
            <a:ext cx="8229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0" b="1" i="0">
                <a:solidFill>
                  <a:srgbClr val="FFFFFF"/>
                </a:solidFill>
                <a:latin typeface="Calibri"/>
              </a:rPr>
              <a:t>doott.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810512"/>
            <a:ext cx="8686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FFFFFF"/>
                </a:solidFill>
                <a:latin typeface="Calibri"/>
              </a:rPr>
              <a:t>Your AI Sales Team. Always On. Always Working.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28600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CCCC"/>
                </a:solidFill>
                <a:latin typeface="Calibri"/>
              </a:rPr>
              <a:t>AI-Powered B2B Lead Generation &amp; Sales Automation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9418320" y="274320"/>
            <a:ext cx="2286000" cy="411480"/>
          </a:xfrm>
          <a:prstGeom prst="rect">
            <a:avLst/>
          </a:prstGeom>
          <a:solidFill>
            <a:srgbClr val="C020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418320" y="320040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UdbhavX 2.0  ·  25 Aug 2026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3566160"/>
            <a:ext cx="2011680" cy="384048"/>
          </a:xfrm>
          <a:prstGeom prst="rect">
            <a:avLst/>
          </a:prstGeom>
          <a:solidFill>
            <a:srgbClr val="FF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" y="3566160"/>
            <a:ext cx="45720" cy="384048"/>
          </a:xfrm>
          <a:prstGeom prst="rect">
            <a:avLst/>
          </a:prstGeom>
          <a:solidFill>
            <a:srgbClr val="E23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3593592"/>
            <a:ext cx="187451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23744"/>
                </a:solidFill>
                <a:latin typeface="Calibri"/>
              </a:rPr>
              <a:t>🤖 AI-Native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017520" y="3566160"/>
            <a:ext cx="2011680" cy="384048"/>
          </a:xfrm>
          <a:prstGeom prst="rect">
            <a:avLst/>
          </a:prstGeom>
          <a:solidFill>
            <a:srgbClr val="FF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017520" y="3566160"/>
            <a:ext cx="45720" cy="384048"/>
          </a:xfrm>
          <a:prstGeom prst="rect">
            <a:avLst/>
          </a:prstGeom>
          <a:solidFill>
            <a:srgbClr val="E23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127248" y="3593592"/>
            <a:ext cx="187451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F172A"/>
                </a:solidFill>
                <a:latin typeface="Calibri"/>
              </a:rPr>
              <a:t>📊 B2B SaaS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212080" y="3566160"/>
            <a:ext cx="2011680" cy="384048"/>
          </a:xfrm>
          <a:prstGeom prst="rect">
            <a:avLst/>
          </a:prstGeom>
          <a:solidFill>
            <a:srgbClr val="FF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212080" y="3566160"/>
            <a:ext cx="45720" cy="384048"/>
          </a:xfrm>
          <a:prstGeom prst="rect">
            <a:avLst/>
          </a:prstGeom>
          <a:solidFill>
            <a:srgbClr val="E23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21808" y="3593592"/>
            <a:ext cx="187451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23744"/>
                </a:solidFill>
                <a:latin typeface="Calibri"/>
              </a:rPr>
              <a:t>🇮🇳 India-First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160520"/>
            <a:ext cx="5943600" cy="77724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22960" y="4160520"/>
            <a:ext cx="45720" cy="777240"/>
          </a:xfrm>
          <a:prstGeom prst="rect">
            <a:avLst/>
          </a:prstGeom>
          <a:solidFill>
            <a:srgbClr val="E23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0120" y="420624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F172A"/>
                </a:solidFill>
                <a:latin typeface="Calibri"/>
              </a:rPr>
              <a:t>Akshat Verma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" y="4526280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75569"/>
                </a:solidFill>
                <a:latin typeface="Calibri"/>
              </a:rPr>
              <a:t>Founder &amp; CEO  ·  doott.in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5166360"/>
            <a:ext cx="2468880" cy="1143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22960" y="6272784"/>
            <a:ext cx="2468880" cy="36576"/>
          </a:xfrm>
          <a:prstGeom prst="rect">
            <a:avLst/>
          </a:prstGeom>
          <a:solidFill>
            <a:srgbClr val="E23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60120" y="5230368"/>
            <a:ext cx="2194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E23744"/>
                </a:solidFill>
                <a:latin typeface="Calibri"/>
              </a:rPr>
              <a:t>10,000+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0120" y="5760720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75569"/>
                </a:solidFill>
                <a:latin typeface="Calibri"/>
              </a:rPr>
              <a:t>Leads/Week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474720" y="5166360"/>
            <a:ext cx="2468880" cy="1143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474720" y="6272784"/>
            <a:ext cx="2468880" cy="36576"/>
          </a:xfrm>
          <a:prstGeom prst="rect">
            <a:avLst/>
          </a:prstGeom>
          <a:solidFill>
            <a:srgbClr val="E23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611880" y="5230368"/>
            <a:ext cx="2194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E23744"/>
                </a:solidFill>
                <a:latin typeface="Calibri"/>
              </a:rPr>
              <a:t>1L+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11880" y="5760720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75569"/>
                </a:solidFill>
                <a:latin typeface="Calibri"/>
              </a:rPr>
              <a:t>Email Open Rate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126480" y="5166360"/>
            <a:ext cx="2468880" cy="1143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126480" y="6272784"/>
            <a:ext cx="2468880" cy="36576"/>
          </a:xfrm>
          <a:prstGeom prst="rect">
            <a:avLst/>
          </a:prstGeom>
          <a:solidFill>
            <a:srgbClr val="E23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263640" y="5230368"/>
            <a:ext cx="2194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E23744"/>
                </a:solidFill>
                <a:latin typeface="Calibri"/>
              </a:rPr>
              <a:t>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63640" y="5760720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75569"/>
                </a:solidFill>
                <a:latin typeface="Calibri"/>
              </a:rPr>
              <a:t>AI Agents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778240" y="5166360"/>
            <a:ext cx="2468880" cy="1143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778240" y="6272784"/>
            <a:ext cx="2468880" cy="36576"/>
          </a:xfrm>
          <a:prstGeom prst="rect">
            <a:avLst/>
          </a:prstGeom>
          <a:solidFill>
            <a:srgbClr val="E23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915400" y="5230368"/>
            <a:ext cx="2194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E23744"/>
                </a:solidFill>
                <a:latin typeface="Calibri"/>
              </a:rPr>
              <a:t>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915400" y="5760720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75569"/>
                </a:solidFill>
                <a:latin typeface="Calibri"/>
              </a:rPr>
              <a:t>Modules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E23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0" y="6556248"/>
            <a:ext cx="1218895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Startup Pitch  ·  UdbhavX 2.0  ·  IE Cell, SAIT Indore  ·  25th August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gradFill>
            <a:gsLst>
              <a:gs pos="0">
                <a:srgbClr val="E23744"/>
              </a:gs>
              <a:gs pos="100000">
                <a:srgbClr val="C0202D"/>
              </a:gs>
            </a:gsLst>
            <a:lin ang="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01168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E23744"/>
                </a:solidFill>
                <a:latin typeface="Calibri"/>
              </a:rPr>
              <a:t>01  /  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48640"/>
            <a:ext cx="110642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0F172A"/>
                </a:solidFill>
                <a:latin typeface="Calibri"/>
              </a:rPr>
              <a:t>B2B Sales Teams Are Stuck in 2010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98448"/>
            <a:ext cx="11064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475569"/>
                </a:solidFill>
                <a:latin typeface="Calibri"/>
              </a:rPr>
              <a:t>Sales reps spend only 27% of their time actually selling — the rest is costly manual busywork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664208"/>
            <a:ext cx="11274552" cy="804672"/>
          </a:xfrm>
          <a:prstGeom prst="rect">
            <a:avLst/>
          </a:prstGeom>
          <a:solidFill>
            <a:srgbClr val="FF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664208"/>
            <a:ext cx="54864" cy="804672"/>
          </a:xfrm>
          <a:prstGeom prst="rect">
            <a:avLst/>
          </a:prstGeom>
          <a:solidFill>
            <a:srgbClr val="E23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1700784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E23744"/>
                </a:solidFill>
                <a:latin typeface="Calibri"/>
              </a:rPr>
              <a:t>ONE-LINE DESCRIPTION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938528"/>
            <a:ext cx="8686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1">
                <a:solidFill>
                  <a:srgbClr val="0F172A"/>
                </a:solidFill>
                <a:latin typeface="Calibri"/>
              </a:rPr>
              <a:t>"Doott is the AI that finds your customers, writes their emails, and scores every lead — automatically."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651760"/>
            <a:ext cx="2560320" cy="2880360"/>
          </a:xfrm>
          <a:prstGeom prst="rect">
            <a:avLst/>
          </a:prstGeom>
          <a:solidFill>
            <a:srgbClr val="E23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2816352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 i="0">
                <a:solidFill>
                  <a:srgbClr val="FFFFFF"/>
                </a:solidFill>
                <a:latin typeface="Calibri"/>
              </a:rPr>
              <a:t>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3291840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Finding
Companies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" y="3822192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D0D4"/>
                </a:solidFill>
                <a:latin typeface="Calibri"/>
              </a:rPr>
              <a:t>3 hrs/day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" y="4343400"/>
            <a:ext cx="2286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CCCC"/>
                </a:solidFill>
                <a:latin typeface="Calibri"/>
              </a:rPr>
              <a:t>Scanning directories, LinkedIn &amp; Google manually every day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00400" y="2651760"/>
            <a:ext cx="2560320" cy="288036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64992" y="2816352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 i="0">
                <a:solidFill>
                  <a:srgbClr val="FFFFFF"/>
                </a:solidFill>
                <a:latin typeface="Calibri"/>
              </a:rPr>
              <a:t>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64992" y="3291840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Finding
Contacts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64992" y="3822192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D0D4"/>
                </a:solidFill>
                <a:latin typeface="Calibri"/>
              </a:rPr>
              <a:t>2 hrs/day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64992" y="4343400"/>
            <a:ext cx="2286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CCCC"/>
                </a:solidFill>
                <a:latin typeface="Calibri"/>
              </a:rPr>
              <a:t>Hunting for verified decision-maker emails &amp; phones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943600" y="2651760"/>
            <a:ext cx="2560320" cy="2880360"/>
          </a:xfrm>
          <a:prstGeom prst="rect">
            <a:avLst/>
          </a:prstGeom>
          <a:solidFill>
            <a:srgbClr val="99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08192" y="2816352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 i="0">
                <a:solidFill>
                  <a:srgbClr val="FFFFFF"/>
                </a:solidFill>
                <a:latin typeface="Calibri"/>
              </a:rPr>
              <a:t>✍️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08192" y="3291840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Writing
Cold Emails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08192" y="3822192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D0D4"/>
                </a:solidFill>
                <a:latin typeface="Calibri"/>
              </a:rPr>
              <a:t>4 hrs/day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08192" y="4343400"/>
            <a:ext cx="2286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CCCC"/>
                </a:solidFill>
                <a:latin typeface="Calibri"/>
              </a:rPr>
              <a:t>Crafting unique personalized emails one by one from scratch</a:t>
            </a:r>
          </a:p>
        </p:txBody>
      </p:sp>
      <p:pic>
        <p:nvPicPr>
          <p:cNvPr id="25" name="Picture 24" descr="doott_problem_illustration_178662189937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95360" y="2514600"/>
            <a:ext cx="3383280" cy="3108960"/>
          </a:xfrm>
          <a:prstGeom prst="rect">
            <a:avLst/>
          </a:prstGeom>
        </p:spPr>
      </p:pic>
      <p:sp>
        <p:nvSpPr>
          <p:cNvPr id="26" name="Rectangle 25"/>
          <p:cNvSpPr/>
          <p:nvPr/>
        </p:nvSpPr>
        <p:spPr>
          <a:xfrm>
            <a:off x="457200" y="5650992"/>
            <a:ext cx="11274552" cy="1371600"/>
          </a:xfrm>
          <a:prstGeom prst="rect">
            <a:avLst/>
          </a:prstGeom>
          <a:solidFill>
            <a:srgbClr val="FF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815584"/>
            <a:ext cx="254431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E23744"/>
                </a:solidFill>
                <a:latin typeface="Calibri"/>
              </a:rPr>
              <a:t>₹10L/year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" y="6309360"/>
            <a:ext cx="254431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75569"/>
                </a:solidFill>
                <a:latin typeface="Calibri"/>
              </a:rPr>
              <a:t>Cost of 1 SDR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04438" y="5815584"/>
            <a:ext cx="254431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E23744"/>
                </a:solidFill>
                <a:latin typeface="Calibri"/>
              </a:rPr>
              <a:t>40 leads/wk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04438" y="6309360"/>
            <a:ext cx="254431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75569"/>
                </a:solidFill>
                <a:latin typeface="Calibri"/>
              </a:rPr>
              <a:t>SDR Capacity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23076" y="5815584"/>
            <a:ext cx="254431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E23744"/>
                </a:solidFill>
                <a:latin typeface="Calibri"/>
              </a:rPr>
              <a:t>27%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23076" y="6309360"/>
            <a:ext cx="254431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75569"/>
                </a:solidFill>
                <a:latin typeface="Calibri"/>
              </a:rPr>
              <a:t>Time Selling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41714" y="5815584"/>
            <a:ext cx="254431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E23744"/>
                </a:solidFill>
                <a:latin typeface="Calibri"/>
              </a:rPr>
              <a:t>18 months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1714" y="6309360"/>
            <a:ext cx="254431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75569"/>
                </a:solidFill>
                <a:latin typeface="Calibri"/>
              </a:rPr>
              <a:t>SDR Tenure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0" y="6720840"/>
            <a:ext cx="12188952" cy="137160"/>
          </a:xfrm>
          <a:prstGeom prst="rect">
            <a:avLst/>
          </a:prstGeom>
          <a:solidFill>
            <a:srgbClr val="E23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gradFill>
            <a:gsLst>
              <a:gs pos="0">
                <a:srgbClr val="E23744"/>
              </a:gs>
              <a:gs pos="100000">
                <a:srgbClr val="C0202D"/>
              </a:gs>
            </a:gsLst>
            <a:lin ang="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01168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E23744"/>
                </a:solidFill>
                <a:latin typeface="Calibri"/>
              </a:rPr>
              <a:t>02  / 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48640"/>
            <a:ext cx="110642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0F172A"/>
                </a:solidFill>
                <a:latin typeface="Calibri"/>
              </a:rPr>
              <a:t>Meet Doott — Your B2B Intelligence, Instantly.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98448"/>
            <a:ext cx="11064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475569"/>
                </a:solidFill>
                <a:latin typeface="Calibri"/>
              </a:rPr>
              <a:t>Companies · People · Emails · Numbers · Categories · AI Chatbot — live today</a:t>
            </a:r>
          </a:p>
        </p:txBody>
      </p:sp>
      <p:pic>
        <p:nvPicPr>
          <p:cNvPr id="6" name="Picture 5" descr="doott_solution_pipeline_17866220587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64208"/>
            <a:ext cx="11274552" cy="192024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20040" y="3767328"/>
            <a:ext cx="1828800" cy="1874519"/>
          </a:xfrm>
          <a:prstGeom prst="rect">
            <a:avLst/>
          </a:prstGeom>
          <a:solidFill>
            <a:srgbClr val="E23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9768" y="3877056"/>
            <a:ext cx="1828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FFFFFF"/>
                </a:solidFill>
                <a:latin typeface="Calibri"/>
              </a:rPr>
              <a:t>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9768" y="4270248"/>
            <a:ext cx="1645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COMPANIES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4608576"/>
            <a:ext cx="1645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CCCC"/>
                </a:solidFill>
                <a:latin typeface="Calibri"/>
              </a:rPr>
              <a:t>Search 1L+ verified Indian B2B companies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286000" y="3767328"/>
            <a:ext cx="1828800" cy="1874519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395728" y="3877056"/>
            <a:ext cx="1828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FFFFFF"/>
                </a:solidFill>
                <a:latin typeface="Calibri"/>
              </a:rPr>
              <a:t>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95728" y="4270248"/>
            <a:ext cx="1645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PEOPLE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95728" y="4608576"/>
            <a:ext cx="1645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CCCC"/>
                </a:solidFill>
                <a:latin typeface="Calibri"/>
              </a:rPr>
              <a:t>Find decision-makers: CTOs, VPs, founders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51959" y="3767328"/>
            <a:ext cx="1828800" cy="1874519"/>
          </a:xfrm>
          <a:prstGeom prst="rect">
            <a:avLst/>
          </a:prstGeom>
          <a:solidFill>
            <a:srgbClr val="B918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61687" y="3877056"/>
            <a:ext cx="1828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FFFFFF"/>
                </a:solidFill>
                <a:latin typeface="Calibri"/>
              </a:rPr>
              <a:t>📧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61687" y="4270248"/>
            <a:ext cx="1645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EMAILS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61687" y="4608576"/>
            <a:ext cx="1645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CCCC"/>
                </a:solidFill>
                <a:latin typeface="Calibri"/>
              </a:rPr>
              <a:t>Verified emails ready to use — zero bounces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17919" y="3767328"/>
            <a:ext cx="1828800" cy="1874519"/>
          </a:xfrm>
          <a:prstGeom prst="rect">
            <a:avLst/>
          </a:prstGeom>
          <a:solidFill>
            <a:srgbClr val="99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27647" y="3877056"/>
            <a:ext cx="1828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FFFFFF"/>
                </a:solidFill>
                <a:latin typeface="Calibri"/>
              </a:rPr>
              <a:t>📞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27647" y="4270248"/>
            <a:ext cx="1645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NUMBERS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27647" y="4608576"/>
            <a:ext cx="1645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CCCC"/>
                </a:solidFill>
                <a:latin typeface="Calibri"/>
              </a:rPr>
              <a:t>Direct-dial numbers for Indian B2B contacts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183879" y="3767328"/>
            <a:ext cx="1828800" cy="1874519"/>
          </a:xfrm>
          <a:prstGeom prst="rect">
            <a:avLst/>
          </a:prstGeom>
          <a:solidFill>
            <a:srgbClr val="7F1D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93607" y="3877056"/>
            <a:ext cx="1828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FFFFFF"/>
                </a:solidFill>
                <a:latin typeface="Calibri"/>
              </a:rPr>
              <a:t>🔲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93607" y="4270248"/>
            <a:ext cx="1645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CATEGORIES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93607" y="4608576"/>
            <a:ext cx="1645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CCCC"/>
                </a:solidFill>
                <a:latin typeface="Calibri"/>
              </a:rPr>
              <a:t>Browse any industry vertical for targeted leads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0149840" y="3767328"/>
            <a:ext cx="1828800" cy="1874519"/>
          </a:xfrm>
          <a:prstGeom prst="rect">
            <a:avLst/>
          </a:prstGeom>
          <a:solidFill>
            <a:srgbClr val="45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259568" y="3877056"/>
            <a:ext cx="1828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FFFFFF"/>
                </a:solidFill>
                <a:latin typeface="Calibri"/>
              </a:rPr>
              <a:t>💬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59568" y="4270248"/>
            <a:ext cx="1645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ASK DOOTT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259568" y="4608576"/>
            <a:ext cx="1645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CCCC"/>
                </a:solidFill>
                <a:latin typeface="Calibri"/>
              </a:rPr>
              <a:t>AI chatbot answers sales questions 24/7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5779008"/>
            <a:ext cx="11274552" cy="713232"/>
          </a:xfrm>
          <a:prstGeom prst="rect">
            <a:avLst/>
          </a:prstGeom>
          <a:solidFill>
            <a:srgbClr val="FF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57200" y="5779008"/>
            <a:ext cx="54864" cy="713232"/>
          </a:xfrm>
          <a:prstGeom prst="rect">
            <a:avLst/>
          </a:prstGeom>
          <a:solidFill>
            <a:srgbClr val="E23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8368" y="587044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23744"/>
                </a:solidFill>
                <a:latin typeface="Calibri"/>
              </a:rPr>
              <a:t>⚡  Result:  What takes a sales team 1 full week — Doott does in 5 minutes.  Doott surfaces it in seconds.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0" y="6720840"/>
            <a:ext cx="12188952" cy="137160"/>
          </a:xfrm>
          <a:prstGeom prst="rect">
            <a:avLst/>
          </a:prstGeom>
          <a:solidFill>
            <a:srgbClr val="E23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gradFill>
            <a:gsLst>
              <a:gs pos="0">
                <a:srgbClr val="E23744"/>
              </a:gs>
              <a:gs pos="100000">
                <a:srgbClr val="C0202D"/>
              </a:gs>
            </a:gsLst>
            <a:lin ang="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01168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E23744"/>
                </a:solidFill>
                <a:latin typeface="Calibri"/>
              </a:rPr>
              <a:t>03  /  MARKET OPPORTUNITY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48640"/>
            <a:ext cx="110642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0F172A"/>
                </a:solidFill>
                <a:latin typeface="Calibri"/>
              </a:rPr>
              <a:t>A $5.9B Market — 97% Still Untapped in India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98448"/>
            <a:ext cx="11064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475569"/>
                </a:solidFill>
                <a:latin typeface="Calibri"/>
              </a:rPr>
              <a:t>22% CAGR · 63 million Indian SMBs · no end-to-end AI sales solution exists for India</a:t>
            </a:r>
          </a:p>
        </p:txBody>
      </p:sp>
      <p:sp>
        <p:nvSpPr>
          <p:cNvPr id="6" name="Rectangle 5"/>
          <p:cNvSpPr/>
          <p:nvPr/>
        </p:nvSpPr>
        <p:spPr>
          <a:xfrm>
            <a:off x="347472" y="2578608"/>
            <a:ext cx="4754880" cy="4206240"/>
          </a:xfrm>
          <a:prstGeom prst="rect">
            <a:avLst/>
          </a:prstGeom>
          <a:solidFill>
            <a:srgbClr val="E23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12" y="2670048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CCCC"/>
                </a:solidFill>
                <a:latin typeface="Calibri"/>
              </a:rPr>
              <a:t>TAM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" y="2944368"/>
            <a:ext cx="4572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$5.9B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" y="6007608"/>
            <a:ext cx="4572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CCCC"/>
                </a:solidFill>
                <a:latin typeface="Calibri"/>
              </a:rPr>
              <a:t>Global B2B Lead Gen
Market by 2030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3035808"/>
            <a:ext cx="3657600" cy="329184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3127248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CCCC"/>
                </a:solidFill>
                <a:latin typeface="Calibri"/>
              </a:rPr>
              <a:t>SAM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3401568"/>
            <a:ext cx="34747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$800M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5550408"/>
            <a:ext cx="34747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CCCC"/>
                </a:solidFill>
                <a:latin typeface="Calibri"/>
              </a:rPr>
              <a:t>India B2B SaaS
Sales Market 2026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4672" y="3493008"/>
            <a:ext cx="2560320" cy="2377440"/>
          </a:xfrm>
          <a:prstGeom prst="rect">
            <a:avLst/>
          </a:prstGeom>
          <a:solidFill>
            <a:srgbClr val="99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6112" y="3584448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CCCC"/>
                </a:solidFill>
                <a:latin typeface="Calibri"/>
              </a:rPr>
              <a:t>SOM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6112" y="3858768"/>
            <a:ext cx="23774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$40M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6112" y="5093208"/>
            <a:ext cx="23774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CCCC"/>
                </a:solidFill>
                <a:latin typeface="Calibri"/>
              </a:rPr>
              <a:t>India SMB Segment
Year 1–2 Target</a:t>
            </a:r>
          </a:p>
        </p:txBody>
      </p:sp>
      <p:pic>
        <p:nvPicPr>
          <p:cNvPr id="18" name="Picture 17" descr="doott_market_india_178662222034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0" y="1572768"/>
            <a:ext cx="6400800" cy="3931920"/>
          </a:xfrm>
          <a:prstGeom prst="rect">
            <a:avLst/>
          </a:prstGeom>
        </p:spPr>
      </p:pic>
      <p:sp>
        <p:nvSpPr>
          <p:cNvPr id="19" name="Rectangle 18"/>
          <p:cNvSpPr/>
          <p:nvPr/>
        </p:nvSpPr>
        <p:spPr>
          <a:xfrm>
            <a:off x="457200" y="5650992"/>
            <a:ext cx="11274552" cy="1371600"/>
          </a:xfrm>
          <a:prstGeom prst="rect">
            <a:avLst/>
          </a:prstGeom>
          <a:solidFill>
            <a:srgbClr val="FF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5815584"/>
            <a:ext cx="254431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E23744"/>
                </a:solidFill>
                <a:latin typeface="Calibri"/>
              </a:rPr>
              <a:t>63 Million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6309360"/>
            <a:ext cx="254431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75569"/>
                </a:solidFill>
                <a:latin typeface="Calibri"/>
              </a:rPr>
              <a:t>SMBs in India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04438" y="5815584"/>
            <a:ext cx="254431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E23744"/>
                </a:solidFill>
                <a:latin typeface="Calibri"/>
              </a:rPr>
              <a:t>22% CAGR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04438" y="6309360"/>
            <a:ext cx="254431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75569"/>
                </a:solidFill>
                <a:latin typeface="Calibri"/>
              </a:rPr>
              <a:t>Market Growth Rate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23076" y="5815584"/>
            <a:ext cx="254431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E23744"/>
                </a:solidFill>
                <a:latin typeface="Calibri"/>
              </a:rPr>
              <a:t>3%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23076" y="6309360"/>
            <a:ext cx="254431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75569"/>
                </a:solidFill>
                <a:latin typeface="Calibri"/>
              </a:rPr>
              <a:t>Use Any Automation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1714" y="5815584"/>
            <a:ext cx="254431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E23744"/>
                </a:solidFill>
                <a:latin typeface="Calibri"/>
              </a:rPr>
              <a:t>ZERO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1714" y="6309360"/>
            <a:ext cx="254431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75569"/>
                </a:solidFill>
                <a:latin typeface="Calibri"/>
              </a:rPr>
              <a:t>End-to-End AI for India</a:t>
            </a:r>
          </a:p>
        </p:txBody>
      </p:sp>
      <p:sp>
        <p:nvSpPr>
          <p:cNvPr id="28" name="Rectangle 27"/>
          <p:cNvSpPr/>
          <p:nvPr/>
        </p:nvSpPr>
        <p:spPr>
          <a:xfrm>
            <a:off x="0" y="6720840"/>
            <a:ext cx="12188952" cy="137160"/>
          </a:xfrm>
          <a:prstGeom prst="rect">
            <a:avLst/>
          </a:prstGeom>
          <a:solidFill>
            <a:srgbClr val="E23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gradFill>
            <a:gsLst>
              <a:gs pos="0">
                <a:srgbClr val="E23744"/>
              </a:gs>
              <a:gs pos="100000">
                <a:srgbClr val="C0202D"/>
              </a:gs>
            </a:gsLst>
            <a:lin ang="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01168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E23744"/>
                </a:solidFill>
                <a:latin typeface="Calibri"/>
              </a:rPr>
              <a:t>04  /  BUSINESS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48640"/>
            <a:ext cx="110642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0F172A"/>
                </a:solidFill>
                <a:latin typeface="Calibri"/>
              </a:rPr>
              <a:t>SaaS — High-Margin Recurring Revenue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98448"/>
            <a:ext cx="11064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475569"/>
                </a:solidFill>
                <a:latin typeface="Calibri"/>
              </a:rPr>
              <a:t>Monthly subscriptions · Pay-per-lead credits · Enterprise white-label · API access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664208"/>
            <a:ext cx="2788920" cy="4133087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92608" y="1664208"/>
            <a:ext cx="2788920" cy="64008"/>
          </a:xfrm>
          <a:prstGeom prst="rect">
            <a:avLst/>
          </a:prstGeom>
          <a:solidFill>
            <a:srgbClr val="E23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1892808"/>
            <a:ext cx="2514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E23744"/>
                </a:solidFill>
                <a:latin typeface="Calibri"/>
              </a:rPr>
              <a:t>STARTER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2231136"/>
            <a:ext cx="2514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0F172A"/>
                </a:solidFill>
                <a:latin typeface="Calibri"/>
              </a:rPr>
              <a:t>₹2,999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2852928"/>
            <a:ext cx="2514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75569"/>
                </a:solidFill>
                <a:latin typeface="Calibri"/>
              </a:rPr>
              <a:t>/mo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3145536"/>
            <a:ext cx="2423160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3291840"/>
            <a:ext cx="2514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0F172A"/>
                </a:solidFill>
                <a:latin typeface="Calibri"/>
              </a:rPr>
              <a:t>✓  500 leads/month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" y="3803904"/>
            <a:ext cx="2514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0F172A"/>
                </a:solidFill>
                <a:latin typeface="Calibri"/>
              </a:rPr>
              <a:t>✓  AI email writing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8" y="4315968"/>
            <a:ext cx="2514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0F172A"/>
                </a:solidFill>
                <a:latin typeface="Calibri"/>
              </a:rPr>
              <a:t>✓  Lead scoring 0–100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" y="4828032"/>
            <a:ext cx="2514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0F172A"/>
                </a:solidFill>
                <a:latin typeface="Calibri"/>
              </a:rPr>
              <a:t>✓  Sheets dashboard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36976" y="1664208"/>
            <a:ext cx="2788920" cy="4133087"/>
          </a:xfrm>
          <a:prstGeom prst="rect">
            <a:avLst/>
          </a:prstGeom>
          <a:solidFill>
            <a:srgbClr val="E23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236976" y="1664208"/>
            <a:ext cx="2788920" cy="640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837176" y="1773936"/>
            <a:ext cx="1097280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837176" y="1792224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E23744"/>
                </a:solidFill>
                <a:latin typeface="Calibri"/>
              </a:rPr>
              <a:t>★ POPULAR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19856" y="1892808"/>
            <a:ext cx="2514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GROWTH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19856" y="2231136"/>
            <a:ext cx="2514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₹7,999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19856" y="2852928"/>
            <a:ext cx="2514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/mo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419856" y="3145536"/>
            <a:ext cx="2423160" cy="182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419856" y="3291840"/>
            <a:ext cx="2514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Calibri"/>
              </a:rPr>
              <a:t>✓  2,000 leads/month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419856" y="3803904"/>
            <a:ext cx="2514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Calibri"/>
              </a:rPr>
              <a:t>✓  Everything in Starter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419856" y="4315968"/>
            <a:ext cx="2514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Calibri"/>
              </a:rPr>
              <a:t>✓  Google Places scraper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419856" y="4828032"/>
            <a:ext cx="2514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Calibri"/>
              </a:rPr>
              <a:t>✓  Priority support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181344" y="1664208"/>
            <a:ext cx="2788920" cy="4133087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81344" y="1664208"/>
            <a:ext cx="2788920" cy="64008"/>
          </a:xfrm>
          <a:prstGeom prst="rect">
            <a:avLst/>
          </a:prstGeom>
          <a:solidFill>
            <a:srgbClr val="E23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64224" y="1892808"/>
            <a:ext cx="2514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E23744"/>
                </a:solidFill>
                <a:latin typeface="Calibri"/>
              </a:rPr>
              <a:t>SCALE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64224" y="2231136"/>
            <a:ext cx="2514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0F172A"/>
                </a:solidFill>
                <a:latin typeface="Calibri"/>
              </a:rPr>
              <a:t>₹19,999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64224" y="2852928"/>
            <a:ext cx="2514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75569"/>
                </a:solidFill>
                <a:latin typeface="Calibri"/>
              </a:rPr>
              <a:t>/mo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364224" y="3145536"/>
            <a:ext cx="2423160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64224" y="3291840"/>
            <a:ext cx="2514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0F172A"/>
                </a:solidFill>
                <a:latin typeface="Calibri"/>
              </a:rPr>
              <a:t>✓  Unlimited leads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64224" y="3803904"/>
            <a:ext cx="2514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0F172A"/>
                </a:solidFill>
                <a:latin typeface="Calibri"/>
              </a:rPr>
              <a:t>✓  Everything in Growth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64224" y="4315968"/>
            <a:ext cx="2514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0F172A"/>
                </a:solidFill>
                <a:latin typeface="Calibri"/>
              </a:rPr>
              <a:t>✓  Custom AI tuning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64224" y="4828032"/>
            <a:ext cx="2514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0F172A"/>
                </a:solidFill>
                <a:latin typeface="Calibri"/>
              </a:rPr>
              <a:t>✓  Full API access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125712" y="1664208"/>
            <a:ext cx="2788920" cy="4133087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125712" y="1664208"/>
            <a:ext cx="2788920" cy="64008"/>
          </a:xfrm>
          <a:prstGeom prst="rect">
            <a:avLst/>
          </a:prstGeom>
          <a:solidFill>
            <a:srgbClr val="E23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308592" y="1892808"/>
            <a:ext cx="2514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ENTERPRISE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308592" y="2231136"/>
            <a:ext cx="2514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Custom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308592" y="3145536"/>
            <a:ext cx="2423160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308592" y="3291840"/>
            <a:ext cx="2514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Calibri"/>
              </a:rPr>
              <a:t>✓  White-label platform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308592" y="3803904"/>
            <a:ext cx="2514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Calibri"/>
              </a:rPr>
              <a:t>✓  Dedicated infra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308592" y="4315968"/>
            <a:ext cx="2514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Calibri"/>
              </a:rPr>
              <a:t>✓  SLA guarantee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308592" y="4828032"/>
            <a:ext cx="2514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Calibri"/>
              </a:rPr>
              <a:t>✓  On-premise option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57200" y="5961888"/>
            <a:ext cx="11274552" cy="713232"/>
          </a:xfrm>
          <a:prstGeom prst="rect">
            <a:avLst/>
          </a:prstGeom>
          <a:solidFill>
            <a:srgbClr val="E23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097280" y="6080760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₹3,000  ·  CAC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840480" y="6080760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₹72,000  ·  LTV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583680" y="6080760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24x  ·  LTV:CAC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326880" y="6080760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&gt;80%  ·  Gross Margin</a:t>
            </a:r>
          </a:p>
        </p:txBody>
      </p:sp>
      <p:sp>
        <p:nvSpPr>
          <p:cNvPr id="52" name="Rectangle 51"/>
          <p:cNvSpPr/>
          <p:nvPr/>
        </p:nvSpPr>
        <p:spPr>
          <a:xfrm>
            <a:off x="0" y="6720840"/>
            <a:ext cx="12188952" cy="137160"/>
          </a:xfrm>
          <a:prstGeom prst="rect">
            <a:avLst/>
          </a:prstGeom>
          <a:solidFill>
            <a:srgbClr val="C020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gradFill>
            <a:gsLst>
              <a:gs pos="0">
                <a:srgbClr val="E23744"/>
              </a:gs>
              <a:gs pos="100000">
                <a:srgbClr val="C0202D"/>
              </a:gs>
            </a:gsLst>
            <a:lin ang="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01168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E23744"/>
                </a:solidFill>
                <a:latin typeface="Calibri"/>
              </a:rPr>
              <a:t>05  /  COMPETITIVE ADVANTAGE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48640"/>
            <a:ext cx="110642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0F172A"/>
                </a:solidFill>
                <a:latin typeface="Calibri"/>
              </a:rPr>
              <a:t>Every Competitor Solves 1 Step. Doott Solves All 6.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98448"/>
            <a:ext cx="11064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475569"/>
                </a:solidFill>
                <a:latin typeface="Calibri"/>
              </a:rPr>
              <a:t>10x cheaper · India-native data · only all-in-one AI sales platform in India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828800"/>
            <a:ext cx="11521440" cy="4572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9768" y="192024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Capability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52928" y="1920240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Apollo.io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15968" y="1920240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ZoomInfo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779008" y="1920240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Clay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42048" y="1920240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Hunter.io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05088" y="1920240"/>
            <a:ext cx="1783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47A88"/>
                </a:solidFill>
                <a:latin typeface="Calibri"/>
              </a:rPr>
              <a:t>DOOTT  ✦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0040" y="2286000"/>
            <a:ext cx="11521440" cy="50292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509760" y="2286000"/>
            <a:ext cx="2331720" cy="502920"/>
          </a:xfrm>
          <a:prstGeom prst="rect">
            <a:avLst/>
          </a:prstGeom>
          <a:solidFill>
            <a:srgbClr val="FF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509760" y="2286000"/>
            <a:ext cx="45720" cy="502920"/>
          </a:xfrm>
          <a:prstGeom prst="rect">
            <a:avLst/>
          </a:prstGeom>
          <a:solidFill>
            <a:srgbClr val="E23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9768" y="2395728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F172A"/>
                </a:solidFill>
                <a:latin typeface="Calibri"/>
              </a:rPr>
              <a:t>Company Discovery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52928" y="2395728"/>
            <a:ext cx="13258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F172A"/>
                </a:solidFill>
                <a:latin typeface="Calibri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15968" y="2395728"/>
            <a:ext cx="13258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F172A"/>
                </a:solidFill>
                <a:latin typeface="Calibri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779008" y="2395728"/>
            <a:ext cx="13258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75569"/>
                </a:solidFill>
                <a:latin typeface="Calibri"/>
              </a:rPr>
              <a:t>Partial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42048" y="2395728"/>
            <a:ext cx="13258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  <a:latin typeface="Calibri"/>
              </a:rPr>
              <a:t>✗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705088" y="2395728"/>
            <a:ext cx="1783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E23744"/>
                </a:solidFill>
                <a:latin typeface="Calibri"/>
              </a:rPr>
              <a:t>✓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0040" y="2798064"/>
            <a:ext cx="1152144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509760" y="2798064"/>
            <a:ext cx="2331720" cy="502920"/>
          </a:xfrm>
          <a:prstGeom prst="rect">
            <a:avLst/>
          </a:prstGeom>
          <a:solidFill>
            <a:srgbClr val="FF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509760" y="2798064"/>
            <a:ext cx="45720" cy="502920"/>
          </a:xfrm>
          <a:prstGeom prst="rect">
            <a:avLst/>
          </a:prstGeom>
          <a:solidFill>
            <a:srgbClr val="E23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29768" y="2907792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F172A"/>
                </a:solidFill>
                <a:latin typeface="Calibri"/>
              </a:rPr>
              <a:t>Contact Enrichment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852928" y="2907792"/>
            <a:ext cx="13258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F172A"/>
                </a:solidFill>
                <a:latin typeface="Calibri"/>
              </a:rPr>
              <a:t>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15968" y="2907792"/>
            <a:ext cx="13258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F172A"/>
                </a:solidFill>
                <a:latin typeface="Calibri"/>
              </a:rPr>
              <a:t>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779008" y="2907792"/>
            <a:ext cx="13258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F172A"/>
                </a:solidFill>
                <a:latin typeface="Calibri"/>
              </a:rPr>
              <a:t>✓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42048" y="2907792"/>
            <a:ext cx="13258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75569"/>
                </a:solidFill>
                <a:latin typeface="Calibri"/>
              </a:rPr>
              <a:t>Email only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05088" y="2907792"/>
            <a:ext cx="1783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E23744"/>
                </a:solidFill>
                <a:latin typeface="Calibri"/>
              </a:rPr>
              <a:t>✓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20040" y="3310128"/>
            <a:ext cx="11521440" cy="50292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509760" y="3310128"/>
            <a:ext cx="2331720" cy="502920"/>
          </a:xfrm>
          <a:prstGeom prst="rect">
            <a:avLst/>
          </a:prstGeom>
          <a:solidFill>
            <a:srgbClr val="FF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9509760" y="3310128"/>
            <a:ext cx="45720" cy="502920"/>
          </a:xfrm>
          <a:prstGeom prst="rect">
            <a:avLst/>
          </a:prstGeom>
          <a:solidFill>
            <a:srgbClr val="E23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29768" y="3419856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F172A"/>
                </a:solidFill>
                <a:latin typeface="Calibri"/>
              </a:rPr>
              <a:t>AI Email Writing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852928" y="3419856"/>
            <a:ext cx="13258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  <a:latin typeface="Calibri"/>
              </a:rPr>
              <a:t>✗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315968" y="3419856"/>
            <a:ext cx="13258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  <a:latin typeface="Calibri"/>
              </a:rPr>
              <a:t>✗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779008" y="3419856"/>
            <a:ext cx="13258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  <a:latin typeface="Calibri"/>
              </a:rPr>
              <a:t>✗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242048" y="3419856"/>
            <a:ext cx="13258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  <a:latin typeface="Calibri"/>
              </a:rPr>
              <a:t>✗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705088" y="3419856"/>
            <a:ext cx="1783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E23744"/>
                </a:solidFill>
                <a:latin typeface="Calibri"/>
              </a:rPr>
              <a:t>✓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20040" y="3822192"/>
            <a:ext cx="1152144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9509760" y="3822192"/>
            <a:ext cx="2331720" cy="502920"/>
          </a:xfrm>
          <a:prstGeom prst="rect">
            <a:avLst/>
          </a:prstGeom>
          <a:solidFill>
            <a:srgbClr val="FF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9509760" y="3822192"/>
            <a:ext cx="45720" cy="502920"/>
          </a:xfrm>
          <a:prstGeom prst="rect">
            <a:avLst/>
          </a:prstGeom>
          <a:solidFill>
            <a:srgbClr val="E23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29768" y="3931920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F172A"/>
                </a:solidFill>
                <a:latin typeface="Calibri"/>
              </a:rPr>
              <a:t>Automated Sending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852928" y="3931920"/>
            <a:ext cx="13258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  <a:latin typeface="Calibri"/>
              </a:rPr>
              <a:t>✗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315968" y="3931920"/>
            <a:ext cx="13258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  <a:latin typeface="Calibri"/>
              </a:rPr>
              <a:t>✗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779008" y="3931920"/>
            <a:ext cx="13258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  <a:latin typeface="Calibri"/>
              </a:rPr>
              <a:t>✗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242048" y="3931920"/>
            <a:ext cx="13258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  <a:latin typeface="Calibri"/>
              </a:rPr>
              <a:t>✗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705088" y="3931920"/>
            <a:ext cx="1783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E23744"/>
                </a:solidFill>
                <a:latin typeface="Calibri"/>
              </a:rPr>
              <a:t>✓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20040" y="4334256"/>
            <a:ext cx="11521440" cy="50292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9509760" y="4334256"/>
            <a:ext cx="2331720" cy="502920"/>
          </a:xfrm>
          <a:prstGeom prst="rect">
            <a:avLst/>
          </a:prstGeom>
          <a:solidFill>
            <a:srgbClr val="FF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9509760" y="4334256"/>
            <a:ext cx="45720" cy="502920"/>
          </a:xfrm>
          <a:prstGeom prst="rect">
            <a:avLst/>
          </a:prstGeom>
          <a:solidFill>
            <a:srgbClr val="E23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29768" y="4443984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F172A"/>
                </a:solidFill>
                <a:latin typeface="Calibri"/>
              </a:rPr>
              <a:t>Lead Scoring AI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852928" y="4443984"/>
            <a:ext cx="13258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75569"/>
                </a:solidFill>
                <a:latin typeface="Calibri"/>
              </a:rPr>
              <a:t>Basic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315968" y="4443984"/>
            <a:ext cx="13258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  <a:latin typeface="Calibri"/>
              </a:rPr>
              <a:t>✗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779008" y="4443984"/>
            <a:ext cx="13258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  <a:latin typeface="Calibri"/>
              </a:rPr>
              <a:t>✗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242048" y="4443984"/>
            <a:ext cx="13258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  <a:latin typeface="Calibri"/>
              </a:rPr>
              <a:t>✗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705088" y="4443984"/>
            <a:ext cx="1783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E23744"/>
                </a:solidFill>
                <a:latin typeface="Calibri"/>
              </a:rPr>
              <a:t>✓  AI</a:t>
            </a:r>
          </a:p>
        </p:txBody>
      </p:sp>
      <p:sp>
        <p:nvSpPr>
          <p:cNvPr id="58" name="Rectangle 57"/>
          <p:cNvSpPr/>
          <p:nvPr/>
        </p:nvSpPr>
        <p:spPr>
          <a:xfrm>
            <a:off x="320040" y="4846320"/>
            <a:ext cx="1152144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9509760" y="4846320"/>
            <a:ext cx="2331720" cy="502920"/>
          </a:xfrm>
          <a:prstGeom prst="rect">
            <a:avLst/>
          </a:prstGeom>
          <a:solidFill>
            <a:srgbClr val="FF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9509760" y="4846320"/>
            <a:ext cx="45720" cy="502920"/>
          </a:xfrm>
          <a:prstGeom prst="rect">
            <a:avLst/>
          </a:prstGeom>
          <a:solidFill>
            <a:srgbClr val="E23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29768" y="4956048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F172A"/>
                </a:solidFill>
                <a:latin typeface="Calibri"/>
              </a:rPr>
              <a:t>India-Native Data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852928" y="4956048"/>
            <a:ext cx="13258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75569"/>
                </a:solidFill>
                <a:latin typeface="Calibri"/>
              </a:rPr>
              <a:t>Partial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315968" y="4956048"/>
            <a:ext cx="13258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  <a:latin typeface="Calibri"/>
              </a:rPr>
              <a:t>✗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779008" y="4956048"/>
            <a:ext cx="13258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  <a:latin typeface="Calibri"/>
              </a:rPr>
              <a:t>✗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242048" y="4956048"/>
            <a:ext cx="13258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75569"/>
                </a:solidFill>
                <a:latin typeface="Calibri"/>
              </a:rPr>
              <a:t>Partial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705088" y="4956048"/>
            <a:ext cx="1783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E23744"/>
                </a:solidFill>
                <a:latin typeface="Calibri"/>
              </a:rPr>
              <a:t>✓  Native</a:t>
            </a:r>
          </a:p>
        </p:txBody>
      </p:sp>
      <p:sp>
        <p:nvSpPr>
          <p:cNvPr id="67" name="Rectangle 66"/>
          <p:cNvSpPr/>
          <p:nvPr/>
        </p:nvSpPr>
        <p:spPr>
          <a:xfrm>
            <a:off x="320040" y="5358384"/>
            <a:ext cx="11521440" cy="50292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9509760" y="5358384"/>
            <a:ext cx="2331720" cy="502920"/>
          </a:xfrm>
          <a:prstGeom prst="rect">
            <a:avLst/>
          </a:prstGeom>
          <a:solidFill>
            <a:srgbClr val="FF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9509760" y="5358384"/>
            <a:ext cx="45720" cy="502920"/>
          </a:xfrm>
          <a:prstGeom prst="rect">
            <a:avLst/>
          </a:prstGeom>
          <a:solidFill>
            <a:srgbClr val="E23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429768" y="5468112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F172A"/>
                </a:solidFill>
                <a:latin typeface="Calibri"/>
              </a:rPr>
              <a:t>Monthly Price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852928" y="5468112"/>
            <a:ext cx="13258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F172A"/>
                </a:solidFill>
                <a:latin typeface="Calibri"/>
              </a:rPr>
              <a:t>$99+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315968" y="5468112"/>
            <a:ext cx="13258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F172A"/>
                </a:solidFill>
                <a:latin typeface="Calibri"/>
              </a:rPr>
              <a:t>$1,250+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779008" y="5468112"/>
            <a:ext cx="13258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F172A"/>
                </a:solidFill>
                <a:latin typeface="Calibri"/>
              </a:rPr>
              <a:t>$149+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7242048" y="5468112"/>
            <a:ext cx="13258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F172A"/>
                </a:solidFill>
                <a:latin typeface="Calibri"/>
              </a:rPr>
              <a:t>$49+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8705088" y="5468112"/>
            <a:ext cx="1783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0202D"/>
                </a:solidFill>
                <a:latin typeface="Calibri"/>
              </a:rPr>
              <a:t>₹2,999</a:t>
            </a:r>
          </a:p>
        </p:txBody>
      </p:sp>
      <p:sp>
        <p:nvSpPr>
          <p:cNvPr id="76" name="Rectangle 75"/>
          <p:cNvSpPr/>
          <p:nvPr/>
        </p:nvSpPr>
        <p:spPr>
          <a:xfrm>
            <a:off x="457200" y="6053328"/>
            <a:ext cx="11274552" cy="594360"/>
          </a:xfrm>
          <a:prstGeom prst="rect">
            <a:avLst/>
          </a:prstGeom>
          <a:solidFill>
            <a:srgbClr val="E23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0" y="6144768"/>
            <a:ext cx="1218895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🏆  10x cheaper than ZoomInfo  ·  Only all-in-one for India  ·  AI reads each target's website</a:t>
            </a:r>
          </a:p>
        </p:txBody>
      </p:sp>
      <p:sp>
        <p:nvSpPr>
          <p:cNvPr id="78" name="Rectangle 77"/>
          <p:cNvSpPr/>
          <p:nvPr/>
        </p:nvSpPr>
        <p:spPr>
          <a:xfrm>
            <a:off x="0" y="6720840"/>
            <a:ext cx="12188952" cy="137160"/>
          </a:xfrm>
          <a:prstGeom prst="rect">
            <a:avLst/>
          </a:prstGeom>
          <a:solidFill>
            <a:srgbClr val="C020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gradFill>
            <a:gsLst>
              <a:gs pos="0">
                <a:srgbClr val="E23744"/>
              </a:gs>
              <a:gs pos="100000">
                <a:srgbClr val="C0202D"/>
              </a:gs>
            </a:gsLst>
            <a:lin ang="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01168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E23744"/>
                </a:solidFill>
                <a:latin typeface="Calibri"/>
              </a:rPr>
              <a:t>06  /  TRACTION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48640"/>
            <a:ext cx="110642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0F172A"/>
                </a:solidFill>
                <a:latin typeface="Calibri"/>
              </a:rPr>
              <a:t>Not an Idea — A Working Product, Live Today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98448"/>
            <a:ext cx="11064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475569"/>
                </a:solidFill>
                <a:latin typeface="Calibri"/>
              </a:rPr>
              <a:t>Built, deployed, and processing real Indian B2B data right now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1664208"/>
            <a:ext cx="2651760" cy="1719072"/>
          </a:xfrm>
          <a:prstGeom prst="rect">
            <a:avLst/>
          </a:prstGeom>
          <a:solidFill>
            <a:srgbClr val="E23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828800"/>
            <a:ext cx="23774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1,00,000+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624328"/>
            <a:ext cx="23774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CCCC"/>
                </a:solidFill>
                <a:latin typeface="Calibri"/>
              </a:rPr>
              <a:t>Indian B2B
Contacts Indexed</a:t>
            </a:r>
          </a:p>
        </p:txBody>
      </p:sp>
      <p:sp>
        <p:nvSpPr>
          <p:cNvPr id="9" name="Rectangle 8"/>
          <p:cNvSpPr/>
          <p:nvPr/>
        </p:nvSpPr>
        <p:spPr>
          <a:xfrm>
            <a:off x="3218688" y="1664208"/>
            <a:ext cx="2651760" cy="1719072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83280" y="1828800"/>
            <a:ext cx="23774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83280" y="2624328"/>
            <a:ext cx="23774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CCCC"/>
                </a:solidFill>
                <a:latin typeface="Calibri"/>
              </a:rPr>
              <a:t>Live Features
In the Product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84048" y="3538728"/>
            <a:ext cx="2651760" cy="1719072"/>
          </a:xfrm>
          <a:prstGeom prst="rect">
            <a:avLst/>
          </a:prstGeom>
          <a:solidFill>
            <a:srgbClr val="B918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3703320"/>
            <a:ext cx="23774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1L+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498848"/>
            <a:ext cx="23774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CCCC"/>
                </a:solidFill>
                <a:latin typeface="Calibri"/>
              </a:rPr>
              <a:t>Indian B2B Contacts
Indexed &amp; Verified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18688" y="3538728"/>
            <a:ext cx="2651760" cy="1719072"/>
          </a:xfrm>
          <a:prstGeom prst="rect">
            <a:avLst/>
          </a:prstGeom>
          <a:solidFill>
            <a:srgbClr val="99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83280" y="3703320"/>
            <a:ext cx="23774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83280" y="4498848"/>
            <a:ext cx="23774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CCCC"/>
                </a:solidFill>
                <a:latin typeface="Calibri"/>
              </a:rPr>
              <a:t>Live Core Features
Shipped to Users</a:t>
            </a:r>
          </a:p>
        </p:txBody>
      </p:sp>
      <p:pic>
        <p:nvPicPr>
          <p:cNvPr id="18" name="Picture 17" descr="doott_traction_dashboard_178662230064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0760" y="1572768"/>
            <a:ext cx="5852160" cy="3767328"/>
          </a:xfrm>
          <a:prstGeom prst="rect">
            <a:avLst/>
          </a:prstGeom>
        </p:spPr>
      </p:pic>
      <p:sp>
        <p:nvSpPr>
          <p:cNvPr id="19" name="Rectangle 18"/>
          <p:cNvSpPr/>
          <p:nvPr/>
        </p:nvSpPr>
        <p:spPr>
          <a:xfrm>
            <a:off x="457200" y="5440680"/>
            <a:ext cx="11274552" cy="749808"/>
          </a:xfrm>
          <a:prstGeom prst="rect">
            <a:avLst/>
          </a:prstGeom>
          <a:solidFill>
            <a:srgbClr val="FF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57200" y="5440680"/>
            <a:ext cx="54864" cy="749808"/>
          </a:xfrm>
          <a:prstGeom prst="rect">
            <a:avLst/>
          </a:prstGeom>
          <a:solidFill>
            <a:srgbClr val="E23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5486400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E23744"/>
                </a:solidFill>
                <a:latin typeface="Calibri"/>
              </a:rPr>
              <a:t>CURRENT REVENUE STATUS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" y="5733288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F172A"/>
                </a:solidFill>
                <a:latin typeface="Calibri"/>
              </a:rPr>
              <a:t>Early traction · Pilot users onboarded · Pre-revenue → target ₹16L MRR by Q4 2026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6309360"/>
            <a:ext cx="11274552" cy="41148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638251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0F172A"/>
                </a:solidFill>
                <a:latin typeface="Calibri"/>
              </a:rPr>
              <a:t>✅ Companies DB  ✅ People DB  ✅ Emails Lookup  ✅ Numbers Lookup  ✅ Categories  ✅ Ask Doott AI Chatbot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720840"/>
            <a:ext cx="12188952" cy="137160"/>
          </a:xfrm>
          <a:prstGeom prst="rect">
            <a:avLst/>
          </a:prstGeom>
          <a:solidFill>
            <a:srgbClr val="E23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572768"/>
          </a:xfrm>
          <a:prstGeom prst="rect">
            <a:avLst/>
          </a:prstGeom>
          <a:gradFill>
            <a:gsLst>
              <a:gs pos="0">
                <a:srgbClr val="E23744"/>
              </a:gs>
              <a:gs pos="100000">
                <a:srgbClr val="C0202D"/>
              </a:gs>
            </a:gsLst>
            <a:lin ang="540000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0116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CCCC"/>
                </a:solidFill>
                <a:latin typeface="Calibri"/>
              </a:rPr>
              <a:t>07  /  VISION  &amp;  THE ASK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48640"/>
            <a:ext cx="1106424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Building India's AI Sales Intelligence Platform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25880"/>
            <a:ext cx="10058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CCCC"/>
                </a:solidFill>
                <a:latin typeface="Calibri"/>
              </a:rPr>
              <a:t>The Salesforce of the AI era — India first, Southeast Asia next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709928"/>
            <a:ext cx="11274552" cy="896112"/>
          </a:xfrm>
          <a:prstGeom prst="rect">
            <a:avLst/>
          </a:prstGeom>
          <a:solidFill>
            <a:srgbClr val="FF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709928"/>
            <a:ext cx="64008" cy="896112"/>
          </a:xfrm>
          <a:prstGeom prst="rect">
            <a:avLst/>
          </a:prstGeom>
          <a:solidFill>
            <a:srgbClr val="E23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1801368"/>
            <a:ext cx="108813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C0202D"/>
                </a:solidFill>
                <a:latin typeface="Calibri"/>
              </a:rPr>
              <a:t>"Every B2B company in India will use Doott the same way they use email — an invisible engine running underneath their growth."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761488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475569"/>
                </a:solidFill>
                <a:latin typeface="Calibri"/>
              </a:rPr>
              <a:t>12-MONTH ROADMAP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4048" y="3090672"/>
            <a:ext cx="2761488" cy="1691640"/>
          </a:xfrm>
          <a:prstGeom prst="rect">
            <a:avLst/>
          </a:prstGeom>
          <a:solidFill>
            <a:srgbClr val="E23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1208" y="3182112"/>
            <a:ext cx="24871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D0D4"/>
                </a:solidFill>
                <a:latin typeface="Calibri"/>
              </a:rPr>
              <a:t>Q3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8" y="3474720"/>
            <a:ext cx="248716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🚀  Public Launch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1208" y="3895344"/>
            <a:ext cx="2487168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CCCC"/>
                </a:solidFill>
                <a:latin typeface="Calibri"/>
              </a:rPr>
              <a:t>50 paying customers
Product-market fit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328416" y="3090672"/>
            <a:ext cx="2761488" cy="169164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65576" y="3182112"/>
            <a:ext cx="24871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D0D4"/>
                </a:solidFill>
                <a:latin typeface="Calibri"/>
              </a:rPr>
              <a:t>Q4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65576" y="3474720"/>
            <a:ext cx="248716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📈  Scale Revenue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65576" y="3895344"/>
            <a:ext cx="2487168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CCCC"/>
                </a:solidFill>
                <a:latin typeface="Calibri"/>
              </a:rPr>
              <a:t>200 customers
₹16 Lakh MRR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72784" y="3090672"/>
            <a:ext cx="2761488" cy="1691640"/>
          </a:xfrm>
          <a:prstGeom prst="rect">
            <a:avLst/>
          </a:prstGeom>
          <a:solidFill>
            <a:srgbClr val="B918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9944" y="3182112"/>
            <a:ext cx="24871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D0D4"/>
                </a:solidFill>
                <a:latin typeface="Calibri"/>
              </a:rPr>
              <a:t>Q1 2027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9944" y="3474720"/>
            <a:ext cx="248716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🌏  Regional Push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9944" y="3895344"/>
            <a:ext cx="2487168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CCCC"/>
                </a:solidFill>
                <a:latin typeface="Calibri"/>
              </a:rPr>
              <a:t>Southeast Asia
1,000 customers target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217152" y="3090672"/>
            <a:ext cx="2761488" cy="16916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354312" y="3182112"/>
            <a:ext cx="24871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2028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54312" y="3474720"/>
            <a:ext cx="248716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🏆  Category Leader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54312" y="3895344"/>
            <a:ext cx="2487168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B8BAB"/>
                </a:solidFill>
                <a:latin typeface="Calibri"/>
              </a:rPr>
              <a:t>$100M ARR Vision
10,000+ customers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4919472"/>
            <a:ext cx="11274552" cy="1664208"/>
          </a:xfrm>
          <a:prstGeom prst="rect">
            <a:avLst/>
          </a:prstGeom>
          <a:solidFill>
            <a:srgbClr val="E23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57200" y="4919472"/>
            <a:ext cx="11274552" cy="64008"/>
          </a:xfrm>
          <a:prstGeom prst="rect">
            <a:avLst/>
          </a:prstGeom>
          <a:solidFill>
            <a:srgbClr val="C020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1520" y="49834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RAISING  ₹50 LAKHS  —  SEED ROUND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8680" y="5532120"/>
            <a:ext cx="25603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40%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8680" y="6007608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CCCC"/>
                </a:solidFill>
                <a:latin typeface="Calibri"/>
              </a:rPr>
              <a:t>Engineering &amp; AI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11880" y="5532120"/>
            <a:ext cx="25603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35%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11880" y="6007608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CCCC"/>
                </a:solidFill>
                <a:latin typeface="Calibri"/>
              </a:rPr>
              <a:t>Sales &amp; Marketing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55080" y="5532120"/>
            <a:ext cx="25603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15%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55080" y="6007608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CCCC"/>
                </a:solidFill>
                <a:latin typeface="Calibri"/>
              </a:rPr>
              <a:t>Team — 2 Key Hires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098280" y="5532120"/>
            <a:ext cx="25603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10%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098280" y="6007608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CCCC"/>
                </a:solidFill>
                <a:latin typeface="Calibri"/>
              </a:rPr>
              <a:t>Operations &amp; Legal</a:t>
            </a:r>
          </a:p>
        </p:txBody>
      </p:sp>
      <p:sp>
        <p:nvSpPr>
          <p:cNvPr id="37" name="Rectangle 36"/>
          <p:cNvSpPr/>
          <p:nvPr/>
        </p:nvSpPr>
        <p:spPr>
          <a:xfrm>
            <a:off x="0" y="6720840"/>
            <a:ext cx="12188952" cy="137160"/>
          </a:xfrm>
          <a:prstGeom prst="rect">
            <a:avLst/>
          </a:prstGeom>
          <a:solidFill>
            <a:srgbClr val="C020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0" y="6748272"/>
            <a:ext cx="1218895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Akshat Verma  ·  Founder &amp; CEO  ·  doott.in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